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4" r:id="rId3"/>
  </p:sldMasterIdLst>
  <p:notesMasterIdLst>
    <p:notesMasterId r:id="rId26"/>
  </p:notesMasterIdLst>
  <p:handoutMasterIdLst>
    <p:handoutMasterId r:id="rId27"/>
  </p:handoutMasterIdLst>
  <p:sldIdLst>
    <p:sldId id="257" r:id="rId4"/>
    <p:sldId id="258" r:id="rId5"/>
    <p:sldId id="292" r:id="rId6"/>
    <p:sldId id="293" r:id="rId7"/>
    <p:sldId id="294" r:id="rId8"/>
    <p:sldId id="295" r:id="rId9"/>
    <p:sldId id="296" r:id="rId10"/>
    <p:sldId id="297" r:id="rId11"/>
    <p:sldId id="306" r:id="rId12"/>
    <p:sldId id="298" r:id="rId13"/>
    <p:sldId id="304" r:id="rId14"/>
    <p:sldId id="309" r:id="rId15"/>
    <p:sldId id="310" r:id="rId16"/>
    <p:sldId id="311" r:id="rId17"/>
    <p:sldId id="312" r:id="rId18"/>
    <p:sldId id="314" r:id="rId19"/>
    <p:sldId id="299" r:id="rId20"/>
    <p:sldId id="300" r:id="rId21"/>
    <p:sldId id="307" r:id="rId22"/>
    <p:sldId id="308" r:id="rId23"/>
    <p:sldId id="302" r:id="rId24"/>
    <p:sldId id="291" r:id="rId25"/>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0033CC"/>
    <a:srgbClr val="006600"/>
    <a:srgbClr val="FF66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0E2EF-49C3-49AC-9E66-389EE1DC51FC}" v="61" dt="2026-01-25T07:00:57.44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72" autoAdjust="0"/>
    <p:restoredTop sz="95268" autoAdjust="0"/>
  </p:normalViewPr>
  <p:slideViewPr>
    <p:cSldViewPr showGuides="1">
      <p:cViewPr varScale="1">
        <p:scale>
          <a:sx n="82" d="100"/>
          <a:sy n="82" d="100"/>
        </p:scale>
        <p:origin x="1690" y="72"/>
      </p:cViewPr>
      <p:guideLst>
        <p:guide orient="horz" pos="2160"/>
        <p:guide pos="2937"/>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dirty="0"/>
          </a:p>
        </p:txBody>
      </p:sp>
      <p:sp>
        <p:nvSpPr>
          <p:cNvPr id="104878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F5AADF60-20FE-4712-992F-EDBC35225153}" type="datetimeFigureOut">
              <a:rPr lang="en-US"/>
              <a:t>4/14/2026</a:t>
            </a:fld>
            <a:endParaRPr lang="en-US" dirty="0"/>
          </a:p>
        </p:txBody>
      </p:sp>
      <p:sp>
        <p:nvSpPr>
          <p:cNvPr id="104878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lang="en-US" dirty="0"/>
          </a:p>
        </p:txBody>
      </p:sp>
      <p:sp>
        <p:nvSpPr>
          <p:cNvPr id="1048785" name="Slide Number Placeholder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2DC958E4-7DA1-4DBD-BD9E-EF79AF32806B}" type="slidenum">
              <a:rPr lang="en-US"/>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6"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GB" dirty="0"/>
          </a:p>
        </p:txBody>
      </p:sp>
      <p:sp>
        <p:nvSpPr>
          <p:cNvPr id="1048777"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B61C34E8-AF3A-4395-ACCB-850F986824EC}" type="datetimeFigureOut">
              <a:rPr lang="en-GB" smtClean="0"/>
              <a:t>14/04/2026</a:t>
            </a:fld>
            <a:endParaRPr lang="en-GB" dirty="0"/>
          </a:p>
        </p:txBody>
      </p:sp>
      <p:sp>
        <p:nvSpPr>
          <p:cNvPr id="1048778" name="Slide Image Placeholder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1440" tIns="45720" rIns="91440" bIns="45720" rtlCol="0" anchor="ctr"/>
          <a:lstStyle/>
          <a:p>
            <a:endParaRPr lang="en-GB" dirty="0"/>
          </a:p>
        </p:txBody>
      </p:sp>
      <p:sp>
        <p:nvSpPr>
          <p:cNvPr id="1048779" name="Notes Placeholder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0" name="Footer Placeholder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lang="en-GB" dirty="0"/>
          </a:p>
        </p:txBody>
      </p:sp>
      <p:sp>
        <p:nvSpPr>
          <p:cNvPr id="1048781" name="Slide Number Placeholder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3B56E55A-5FF4-4388-AEA5-A9C78B46A1FD}" type="slidenum">
              <a:rPr lang="en-GB" smtClean="0"/>
              <a:t>‹#›</a:t>
            </a:fld>
            <a:endParaRPr lang="en-GB" dirty="0"/>
          </a:p>
        </p:txBody>
      </p:sp>
    </p:spTree>
    <p:extLst>
      <p:ext uri="{BB962C8B-B14F-4D97-AF65-F5344CB8AC3E}">
        <p14:creationId xmlns:p14="http://schemas.microsoft.com/office/powerpoint/2010/main" val="298020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t>22</a:t>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extLst>
      <p:ext uri="{BB962C8B-B14F-4D97-AF65-F5344CB8AC3E}">
        <p14:creationId xmlns:p14="http://schemas.microsoft.com/office/powerpoint/2010/main" val="866105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5" name="Title 1"/>
          <p:cNvSpPr>
            <a:spLocks noGrp="1"/>
          </p:cNvSpPr>
          <p:nvPr>
            <p:ph type="ctrTitle"/>
          </p:nvPr>
        </p:nvSpPr>
        <p:spPr>
          <a:xfrm>
            <a:off x="685800" y="2130431"/>
            <a:ext cx="7772400" cy="1470025"/>
          </a:xfrm>
        </p:spPr>
        <p:txBody>
          <a:bodyPr/>
          <a:lstStyle/>
          <a:p>
            <a:r>
              <a:rPr lang="en-US"/>
              <a:t>Click to edit Master title style</a:t>
            </a:r>
          </a:p>
        </p:txBody>
      </p:sp>
      <p:sp>
        <p:nvSpPr>
          <p:cNvPr id="104861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17" name="Date Placeholder 3"/>
          <p:cNvSpPr>
            <a:spLocks noGrp="1"/>
          </p:cNvSpPr>
          <p:nvPr>
            <p:ph type="dt" sz="half" idx="10"/>
          </p:nvPr>
        </p:nvSpPr>
        <p:spPr/>
        <p:txBody>
          <a:bodyPr/>
          <a:lstStyle/>
          <a:p>
            <a:fld id="{E5049658-1B32-471B-BF08-B398628EF583}" type="datetimeFigureOut">
              <a:rPr lang="en-US"/>
              <a:t>4/14/2026</a:t>
            </a:fld>
            <a:endParaRPr lang="en-US" dirty="0"/>
          </a:p>
        </p:txBody>
      </p:sp>
      <p:sp>
        <p:nvSpPr>
          <p:cNvPr id="1048618" name="Footer Placeholder 4"/>
          <p:cNvSpPr>
            <a:spLocks noGrp="1"/>
          </p:cNvSpPr>
          <p:nvPr>
            <p:ph type="ftr" sz="quarter" idx="11"/>
          </p:nvPr>
        </p:nvSpPr>
        <p:spPr/>
        <p:txBody>
          <a:bodyPr/>
          <a:lstStyle/>
          <a:p>
            <a:endParaRPr lang="en-US" dirty="0"/>
          </a:p>
        </p:txBody>
      </p:sp>
      <p:sp>
        <p:nvSpPr>
          <p:cNvPr id="1048619" name="Slide Number Placeholder 5"/>
          <p:cNvSpPr>
            <a:spLocks noGrp="1"/>
          </p:cNvSpPr>
          <p:nvPr>
            <p:ph type="sldNum" sz="quarter" idx="12"/>
          </p:nvPr>
        </p:nvSpPr>
        <p:spPr/>
        <p:txBody>
          <a:bodyPr/>
          <a:lstStyle/>
          <a:p>
            <a:fld id="{A6C698EB-6D6A-44E3-AD2E-820EDD660B89}"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lstStyle/>
          <a:p>
            <a:fld id="{BB487F52-83E9-40DA-BAC6-8264382B3B98}" type="datetimeFigureOut">
              <a:rPr lang="en-US"/>
              <a:t>4/14/2026</a:t>
            </a:fld>
            <a:endParaRPr lang="en-US" dirty="0"/>
          </a:p>
        </p:txBody>
      </p:sp>
      <p:sp>
        <p:nvSpPr>
          <p:cNvPr id="1048584" name="Footer Placeholder 4"/>
          <p:cNvSpPr>
            <a:spLocks noGrp="1"/>
          </p:cNvSpPr>
          <p:nvPr>
            <p:ph type="ftr" sz="quarter" idx="11"/>
          </p:nvPr>
        </p:nvSpPr>
        <p:spPr/>
        <p:txBody>
          <a:bodyPr/>
          <a:lstStyle/>
          <a:p>
            <a:endParaRPr lang="en-US" dirty="0"/>
          </a:p>
        </p:txBody>
      </p:sp>
      <p:sp>
        <p:nvSpPr>
          <p:cNvPr id="1048585" name="Slide Number Placeholder 5"/>
          <p:cNvSpPr>
            <a:spLocks noGrp="1"/>
          </p:cNvSpPr>
          <p:nvPr>
            <p:ph type="sldNum" sz="quarter" idx="12"/>
          </p:nvPr>
        </p:nvSpPr>
        <p:spPr/>
        <p:txBody>
          <a:bodyPr/>
          <a:lstStyle/>
          <a:p>
            <a:fld id="{CACE0FC3-80A5-4E6A-8463-A948B12D76EE}"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14"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1048715"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16" name="Date Placeholder 3"/>
          <p:cNvSpPr>
            <a:spLocks noGrp="1"/>
          </p:cNvSpPr>
          <p:nvPr>
            <p:ph type="dt" sz="half" idx="10"/>
          </p:nvPr>
        </p:nvSpPr>
        <p:spPr/>
        <p:txBody>
          <a:bodyPr/>
          <a:lstStyle/>
          <a:p>
            <a:fld id="{E146B83F-0586-4666-9DEB-0641AD91F7DE}" type="datetimeFigureOut">
              <a:rPr lang="en-US"/>
              <a:t>4/14/2026</a:t>
            </a:fld>
            <a:endParaRPr lang="en-US" dirty="0"/>
          </a:p>
        </p:txBody>
      </p:sp>
      <p:sp>
        <p:nvSpPr>
          <p:cNvPr id="1048717" name="Footer Placeholder 4"/>
          <p:cNvSpPr>
            <a:spLocks noGrp="1"/>
          </p:cNvSpPr>
          <p:nvPr>
            <p:ph type="ftr" sz="quarter" idx="11"/>
          </p:nvPr>
        </p:nvSpPr>
        <p:spPr/>
        <p:txBody>
          <a:bodyPr/>
          <a:lstStyle/>
          <a:p>
            <a:endParaRPr lang="en-US" dirty="0"/>
          </a:p>
        </p:txBody>
      </p:sp>
      <p:sp>
        <p:nvSpPr>
          <p:cNvPr id="1048718" name="Slide Number Placeholder 5"/>
          <p:cNvSpPr>
            <a:spLocks noGrp="1"/>
          </p:cNvSpPr>
          <p:nvPr>
            <p:ph type="sldNum" sz="quarter" idx="12"/>
          </p:nvPr>
        </p:nvSpPr>
        <p:spPr/>
        <p:txBody>
          <a:bodyPr/>
          <a:lstStyle/>
          <a:p>
            <a:fld id="{04671A20-A21B-4CC2-AC43-DD78D41E2568}" type="slidenum">
              <a:rPr lang="en-US"/>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p>
        </p:txBody>
      </p:sp>
      <p:sp>
        <p:nvSpPr>
          <p:cNvPr id="1048687"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Date Placeholder 3"/>
          <p:cNvSpPr>
            <a:spLocks noGrp="1"/>
          </p:cNvSpPr>
          <p:nvPr>
            <p:ph type="dt" sz="half" idx="10"/>
          </p:nvPr>
        </p:nvSpPr>
        <p:spPr/>
        <p:txBody>
          <a:bodyPr/>
          <a:lstStyle/>
          <a:p>
            <a:fld id="{647B3122-F98F-4BFE-9F85-1074B05743EE}" type="datetimeFigureOut">
              <a:rPr lang="en-US"/>
              <a:t>4/14/2026</a:t>
            </a:fld>
            <a:endParaRPr lang="en-US" dirty="0"/>
          </a:p>
        </p:txBody>
      </p:sp>
      <p:sp>
        <p:nvSpPr>
          <p:cNvPr id="1048690" name="Footer Placeholder 4"/>
          <p:cNvSpPr>
            <a:spLocks noGrp="1"/>
          </p:cNvSpPr>
          <p:nvPr>
            <p:ph type="ftr" sz="quarter" idx="11"/>
          </p:nvPr>
        </p:nvSpPr>
        <p:spPr/>
        <p:txBody>
          <a:bodyPr/>
          <a:lstStyle/>
          <a:p>
            <a:endParaRPr lang="en-US" dirty="0"/>
          </a:p>
        </p:txBody>
      </p:sp>
      <p:sp>
        <p:nvSpPr>
          <p:cNvPr id="1048691" name="Slide Number Placeholder 5"/>
          <p:cNvSpPr>
            <a:spLocks noGrp="1"/>
          </p:cNvSpPr>
          <p:nvPr>
            <p:ph type="sldNum" sz="quarter" idx="12"/>
          </p:nvPr>
        </p:nvSpPr>
        <p:spPr/>
        <p:txBody>
          <a:bodyPr/>
          <a:lstStyle/>
          <a:p>
            <a:fld id="{4B2F1653-7A10-4BED-8EBE-29AD2F2289EE}"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2" name="Title 1"/>
          <p:cNvSpPr>
            <a:spLocks noGrp="1"/>
          </p:cNvSpPr>
          <p:nvPr>
            <p:ph type="title"/>
          </p:nvPr>
        </p:nvSpPr>
        <p:spPr/>
        <p:txBody>
          <a:bodyPr/>
          <a:lstStyle/>
          <a:p>
            <a:r>
              <a:rPr lang="en-US"/>
              <a:t>Click to edit Master title style</a:t>
            </a:r>
          </a:p>
        </p:txBody>
      </p:sp>
      <p:sp>
        <p:nvSpPr>
          <p:cNvPr id="104869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Date Placeholder 3"/>
          <p:cNvSpPr>
            <a:spLocks noGrp="1"/>
          </p:cNvSpPr>
          <p:nvPr>
            <p:ph type="dt" sz="half" idx="10"/>
          </p:nvPr>
        </p:nvSpPr>
        <p:spPr/>
        <p:txBody>
          <a:bodyPr/>
          <a:lstStyle/>
          <a:p>
            <a:fld id="{96B555E5-4663-408A-987B-5A867A85184F}" type="datetimeFigureOut">
              <a:rPr lang="en-US"/>
              <a:t>4/14/2026</a:t>
            </a:fld>
            <a:endParaRPr lang="en-US" dirty="0"/>
          </a:p>
        </p:txBody>
      </p:sp>
      <p:sp>
        <p:nvSpPr>
          <p:cNvPr id="1048698" name="Footer Placeholder 4"/>
          <p:cNvSpPr>
            <a:spLocks noGrp="1"/>
          </p:cNvSpPr>
          <p:nvPr>
            <p:ph type="ftr" sz="quarter" idx="11"/>
          </p:nvPr>
        </p:nvSpPr>
        <p:spPr/>
        <p:txBody>
          <a:bodyPr/>
          <a:lstStyle/>
          <a:p>
            <a:endParaRPr lang="en-US" dirty="0"/>
          </a:p>
        </p:txBody>
      </p:sp>
      <p:sp>
        <p:nvSpPr>
          <p:cNvPr id="1048699" name="Slide Number Placeholder 5"/>
          <p:cNvSpPr>
            <a:spLocks noGrp="1"/>
          </p:cNvSpPr>
          <p:nvPr>
            <p:ph type="sldNum" sz="quarter" idx="12"/>
          </p:nvPr>
        </p:nvSpPr>
        <p:spPr/>
        <p:txBody>
          <a:bodyPr/>
          <a:lstStyle/>
          <a:p>
            <a:fld id="{6AA07655-5EE6-4BE7-B31B-9247DF07A360}"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r>
              <a:rPr lang="en-US"/>
              <a:t>Click to edit Master title style</a:t>
            </a:r>
          </a:p>
        </p:txBody>
      </p:sp>
      <p:sp>
        <p:nvSpPr>
          <p:cNvPr id="1048597" name="Date Placeholder 3"/>
          <p:cNvSpPr>
            <a:spLocks noGrp="1"/>
          </p:cNvSpPr>
          <p:nvPr>
            <p:ph type="dt" sz="half" idx="10"/>
          </p:nvPr>
        </p:nvSpPr>
        <p:spPr/>
        <p:txBody>
          <a:bodyPr/>
          <a:lstStyle/>
          <a:p>
            <a:fld id="{95CD851B-B327-4442-A595-DC3F1CF0D661}" type="datetimeFigureOut">
              <a:rPr lang="en-US"/>
              <a:t>4/14/2026</a:t>
            </a:fld>
            <a:endParaRPr lang="en-US" dirty="0"/>
          </a:p>
        </p:txBody>
      </p:sp>
      <p:sp>
        <p:nvSpPr>
          <p:cNvPr id="1048598" name="Footer Placeholder 4"/>
          <p:cNvSpPr>
            <a:spLocks noGrp="1"/>
          </p:cNvSpPr>
          <p:nvPr>
            <p:ph type="ftr" sz="quarter" idx="11"/>
          </p:nvPr>
        </p:nvSpPr>
        <p:spPr/>
        <p:txBody>
          <a:bodyPr/>
          <a:lstStyle/>
          <a:p>
            <a:endParaRPr lang="en-US" dirty="0"/>
          </a:p>
        </p:txBody>
      </p:sp>
      <p:sp>
        <p:nvSpPr>
          <p:cNvPr id="1048599" name="Slide Number Placeholder 5"/>
          <p:cNvSpPr>
            <a:spLocks noGrp="1"/>
          </p:cNvSpPr>
          <p:nvPr>
            <p:ph type="sldNum" sz="quarter" idx="12"/>
          </p:nvPr>
        </p:nvSpPr>
        <p:spPr/>
        <p:txBody>
          <a:bodyPr/>
          <a:lstStyle/>
          <a:p>
            <a:fld id="{F45759B4-0D9D-4AB1-8469-2C9B4A5E591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5" name="Date Placeholder 3"/>
          <p:cNvSpPr>
            <a:spLocks noGrp="1"/>
          </p:cNvSpPr>
          <p:nvPr>
            <p:ph type="dt" sz="half" idx="10"/>
          </p:nvPr>
        </p:nvSpPr>
        <p:spPr/>
        <p:txBody>
          <a:bodyPr/>
          <a:lstStyle/>
          <a:p>
            <a:fld id="{55DEA563-AD19-4581-A8EF-63BA5981AA7F}" type="datetimeFigureOut">
              <a:rPr lang="en-US"/>
              <a:t>4/14/2026</a:t>
            </a:fld>
            <a:endParaRPr lang="en-US" dirty="0"/>
          </a:p>
        </p:txBody>
      </p:sp>
      <p:sp>
        <p:nvSpPr>
          <p:cNvPr id="1048706" name="Footer Placeholder 4"/>
          <p:cNvSpPr>
            <a:spLocks noGrp="1"/>
          </p:cNvSpPr>
          <p:nvPr>
            <p:ph type="ftr" sz="quarter" idx="11"/>
          </p:nvPr>
        </p:nvSpPr>
        <p:spPr/>
        <p:txBody>
          <a:bodyPr/>
          <a:lstStyle/>
          <a:p>
            <a:endParaRPr lang="en-US" dirty="0"/>
          </a:p>
        </p:txBody>
      </p:sp>
      <p:sp>
        <p:nvSpPr>
          <p:cNvPr id="1048707" name="Slide Number Placeholder 5"/>
          <p:cNvSpPr>
            <a:spLocks noGrp="1"/>
          </p:cNvSpPr>
          <p:nvPr>
            <p:ph type="sldNum" sz="quarter" idx="12"/>
          </p:nvPr>
        </p:nvSpPr>
        <p:spPr/>
        <p:txBody>
          <a:bodyPr/>
          <a:lstStyle/>
          <a:p>
            <a:fld id="{5542BD70-19C0-4656-B288-AC71113C2F8D}"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4"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p>
        </p:txBody>
      </p:sp>
      <p:sp>
        <p:nvSpPr>
          <p:cNvPr id="1048725"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6"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7" name="Date Placeholder 3"/>
          <p:cNvSpPr>
            <a:spLocks noGrp="1"/>
          </p:cNvSpPr>
          <p:nvPr>
            <p:ph type="dt" sz="half" idx="10"/>
          </p:nvPr>
        </p:nvSpPr>
        <p:spPr/>
        <p:txBody>
          <a:bodyPr/>
          <a:lstStyle/>
          <a:p>
            <a:fld id="{AEF4AF67-9202-49C0-9499-80248B40DB4A}" type="datetimeFigureOut">
              <a:rPr lang="en-US"/>
              <a:t>4/14/2026</a:t>
            </a:fld>
            <a:endParaRPr lang="en-US" dirty="0"/>
          </a:p>
        </p:txBody>
      </p:sp>
      <p:sp>
        <p:nvSpPr>
          <p:cNvPr id="1048728" name="Footer Placeholder 4"/>
          <p:cNvSpPr>
            <a:spLocks noGrp="1"/>
          </p:cNvSpPr>
          <p:nvPr>
            <p:ph type="ftr" sz="quarter" idx="11"/>
          </p:nvPr>
        </p:nvSpPr>
        <p:spPr/>
        <p:txBody>
          <a:bodyPr/>
          <a:lstStyle/>
          <a:p>
            <a:endParaRPr lang="en-US" dirty="0"/>
          </a:p>
        </p:txBody>
      </p:sp>
      <p:sp>
        <p:nvSpPr>
          <p:cNvPr id="1048729" name="Slide Number Placeholder 5"/>
          <p:cNvSpPr>
            <a:spLocks noGrp="1"/>
          </p:cNvSpPr>
          <p:nvPr>
            <p:ph type="sldNum" sz="quarter" idx="12"/>
          </p:nvPr>
        </p:nvSpPr>
        <p:spPr/>
        <p:txBody>
          <a:bodyPr/>
          <a:lstStyle/>
          <a:p>
            <a:fld id="{44F0EEF3-D022-4866-ABC3-5FCCD7DC51FA}" type="slidenum">
              <a:rPr lang="en-US"/>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08"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p>
        </p:txBody>
      </p:sp>
      <p:sp>
        <p:nvSpPr>
          <p:cNvPr id="1048709"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048710"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1" name="Date Placeholder 3"/>
          <p:cNvSpPr>
            <a:spLocks noGrp="1"/>
          </p:cNvSpPr>
          <p:nvPr>
            <p:ph type="dt" sz="half" idx="10"/>
          </p:nvPr>
        </p:nvSpPr>
        <p:spPr/>
        <p:txBody>
          <a:bodyPr/>
          <a:lstStyle/>
          <a:p>
            <a:fld id="{BE918AAA-8687-41FE-BF13-707437BC5E1E}" type="datetimeFigureOut">
              <a:rPr lang="en-US"/>
              <a:t>4/14/2026</a:t>
            </a:fld>
            <a:endParaRPr lang="en-US" dirty="0"/>
          </a:p>
        </p:txBody>
      </p:sp>
      <p:sp>
        <p:nvSpPr>
          <p:cNvPr id="1048712" name="Footer Placeholder 4"/>
          <p:cNvSpPr>
            <a:spLocks noGrp="1"/>
          </p:cNvSpPr>
          <p:nvPr>
            <p:ph type="ftr" sz="quarter" idx="11"/>
          </p:nvPr>
        </p:nvSpPr>
        <p:spPr/>
        <p:txBody>
          <a:bodyPr/>
          <a:lstStyle/>
          <a:p>
            <a:endParaRPr lang="en-US" dirty="0"/>
          </a:p>
        </p:txBody>
      </p:sp>
      <p:sp>
        <p:nvSpPr>
          <p:cNvPr id="1048713" name="Slide Number Placeholder 5"/>
          <p:cNvSpPr>
            <a:spLocks noGrp="1"/>
          </p:cNvSpPr>
          <p:nvPr>
            <p:ph type="sldNum" sz="quarter" idx="12"/>
          </p:nvPr>
        </p:nvSpPr>
        <p:spPr/>
        <p:txBody>
          <a:bodyPr/>
          <a:lstStyle/>
          <a:p>
            <a:fld id="{310BD9D6-140E-43CA-B11F-D41B7FC5D414}"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9" name="Title 1"/>
          <p:cNvSpPr>
            <a:spLocks noGrp="1"/>
          </p:cNvSpPr>
          <p:nvPr>
            <p:ph type="title"/>
          </p:nvPr>
        </p:nvSpPr>
        <p:spPr/>
        <p:txBody>
          <a:bodyPr/>
          <a:lstStyle/>
          <a:p>
            <a:r>
              <a:rPr lang="en-US"/>
              <a:t>Click to edit Master title style</a:t>
            </a:r>
          </a:p>
        </p:txBody>
      </p:sp>
      <p:sp>
        <p:nvSpPr>
          <p:cNvPr id="104872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1" name="Date Placeholder 3"/>
          <p:cNvSpPr>
            <a:spLocks noGrp="1"/>
          </p:cNvSpPr>
          <p:nvPr>
            <p:ph type="dt" sz="half" idx="10"/>
          </p:nvPr>
        </p:nvSpPr>
        <p:spPr/>
        <p:txBody>
          <a:bodyPr/>
          <a:lstStyle/>
          <a:p>
            <a:fld id="{78B03597-99BF-4D07-AF0D-92BAB1D51340}" type="datetimeFigureOut">
              <a:rPr lang="en-US"/>
              <a:t>4/14/2026</a:t>
            </a:fld>
            <a:endParaRPr lang="en-US" dirty="0"/>
          </a:p>
        </p:txBody>
      </p:sp>
      <p:sp>
        <p:nvSpPr>
          <p:cNvPr id="1048722" name="Footer Placeholder 4"/>
          <p:cNvSpPr>
            <a:spLocks noGrp="1"/>
          </p:cNvSpPr>
          <p:nvPr>
            <p:ph type="ftr" sz="quarter" idx="11"/>
          </p:nvPr>
        </p:nvSpPr>
        <p:spPr/>
        <p:txBody>
          <a:bodyPr/>
          <a:lstStyle/>
          <a:p>
            <a:endParaRPr lang="en-US" dirty="0"/>
          </a:p>
        </p:txBody>
      </p:sp>
      <p:sp>
        <p:nvSpPr>
          <p:cNvPr id="1048723" name="Slide Number Placeholder 5"/>
          <p:cNvSpPr>
            <a:spLocks noGrp="1"/>
          </p:cNvSpPr>
          <p:nvPr>
            <p:ph type="sldNum" sz="quarter" idx="12"/>
          </p:nvPr>
        </p:nvSpPr>
        <p:spPr/>
        <p:txBody>
          <a:bodyPr/>
          <a:lstStyle/>
          <a:p>
            <a:fld id="{AF1ACDDE-A4D3-4E0B-A570-A78689AE3E35}"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0"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1048701"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2" name="Date Placeholder 3"/>
          <p:cNvSpPr>
            <a:spLocks noGrp="1"/>
          </p:cNvSpPr>
          <p:nvPr>
            <p:ph type="dt" sz="half" idx="10"/>
          </p:nvPr>
        </p:nvSpPr>
        <p:spPr/>
        <p:txBody>
          <a:bodyPr/>
          <a:lstStyle/>
          <a:p>
            <a:fld id="{D45B56C9-71B5-404C-B5A2-B45F21E75A32}" type="datetimeFigureOut">
              <a:rPr lang="en-US"/>
              <a:t>4/14/2026</a:t>
            </a:fld>
            <a:endParaRPr lang="en-US" dirty="0"/>
          </a:p>
        </p:txBody>
      </p:sp>
      <p:sp>
        <p:nvSpPr>
          <p:cNvPr id="1048703" name="Footer Placeholder 4"/>
          <p:cNvSpPr>
            <a:spLocks noGrp="1"/>
          </p:cNvSpPr>
          <p:nvPr>
            <p:ph type="ftr" sz="quarter" idx="11"/>
          </p:nvPr>
        </p:nvSpPr>
        <p:spPr/>
        <p:txBody>
          <a:bodyPr/>
          <a:lstStyle/>
          <a:p>
            <a:endParaRPr lang="en-US" dirty="0"/>
          </a:p>
        </p:txBody>
      </p:sp>
      <p:sp>
        <p:nvSpPr>
          <p:cNvPr id="1048704" name="Slide Number Placeholder 5"/>
          <p:cNvSpPr>
            <a:spLocks noGrp="1"/>
          </p:cNvSpPr>
          <p:nvPr>
            <p:ph type="sldNum" sz="quarter" idx="12"/>
          </p:nvPr>
        </p:nvSpPr>
        <p:spPr/>
        <p:txBody>
          <a:bodyPr/>
          <a:lstStyle/>
          <a:p>
            <a:fld id="{BCB308AD-B6DB-4B82-B1F7-9450F5460026}" type="slidenum">
              <a:rPr lang="en-US"/>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2"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53"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754" name="Rectangle 32"/>
          <p:cNvSpPr>
            <a:spLocks noGrp="1" noChangeArrowheads="1"/>
          </p:cNvSpPr>
          <p:nvPr>
            <p:ph type="sldNum" sz="quarter" idx="10"/>
          </p:nvPr>
        </p:nvSpPr>
        <p:spPr/>
        <p:txBody>
          <a:bodyPr/>
          <a:lstStyle/>
          <a:p>
            <a:fld id="{F33682F6-07BE-4D8D-A30B-784368EB4D18}"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2" name="Title 1"/>
          <p:cNvSpPr>
            <a:spLocks noGrp="1"/>
          </p:cNvSpPr>
          <p:nvPr>
            <p:ph type="title"/>
          </p:nvPr>
        </p:nvSpPr>
        <p:spPr/>
        <p:txBody>
          <a:bodyPr/>
          <a:lstStyle/>
          <a:p>
            <a:r>
              <a:rPr lang="en-US"/>
              <a:t>Click to edit Master title style</a:t>
            </a:r>
          </a:p>
        </p:txBody>
      </p:sp>
      <p:sp>
        <p:nvSpPr>
          <p:cNvPr id="104876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4" name="Rectangle 32"/>
          <p:cNvSpPr>
            <a:spLocks noGrp="1" noChangeArrowheads="1"/>
          </p:cNvSpPr>
          <p:nvPr>
            <p:ph type="sldNum" sz="quarter" idx="10"/>
          </p:nvPr>
        </p:nvSpPr>
        <p:spPr/>
        <p:txBody>
          <a:bodyPr/>
          <a:lstStyle/>
          <a:p>
            <a:fld id="{15A104C0-9CA3-40E4-B708-2BE1DD18AAA2}"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7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772" name="Rectangle 32"/>
          <p:cNvSpPr>
            <a:spLocks noGrp="1" noChangeArrowheads="1"/>
          </p:cNvSpPr>
          <p:nvPr>
            <p:ph type="sldNum" sz="quarter" idx="10"/>
          </p:nvPr>
        </p:nvSpPr>
        <p:spPr/>
        <p:txBody>
          <a:bodyPr/>
          <a:lstStyle/>
          <a:p>
            <a:fld id="{C69354AA-FA39-4F23-8A68-66C7B7405C24}"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p>
        </p:txBody>
      </p:sp>
      <p:sp>
        <p:nvSpPr>
          <p:cNvPr id="1048735" name="Content Placeholder 2"/>
          <p:cNvSpPr>
            <a:spLocks noGrp="1"/>
          </p:cNvSpPr>
          <p:nvPr>
            <p:ph sz="half" idx="1"/>
          </p:nvPr>
        </p:nvSpPr>
        <p:spPr>
          <a:xfrm>
            <a:off x="942975" y="2357438"/>
            <a:ext cx="3868738"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Content Placeholder 3"/>
          <p:cNvSpPr>
            <a:spLocks noGrp="1"/>
          </p:cNvSpPr>
          <p:nvPr>
            <p:ph sz="half" idx="2"/>
          </p:nvPr>
        </p:nvSpPr>
        <p:spPr>
          <a:xfrm>
            <a:off x="4964113" y="2357438"/>
            <a:ext cx="3868737"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7" name="Rectangle 32"/>
          <p:cNvSpPr>
            <a:spLocks noGrp="1" noChangeArrowheads="1"/>
          </p:cNvSpPr>
          <p:nvPr>
            <p:ph type="sldNum" sz="quarter" idx="10"/>
          </p:nvPr>
        </p:nvSpPr>
        <p:spPr/>
        <p:txBody>
          <a:bodyPr/>
          <a:lstStyle/>
          <a:p>
            <a:fld id="{B3533401-8ED0-4476-AD34-E93D5331DAAE}"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46" name="Title 1"/>
          <p:cNvSpPr>
            <a:spLocks noGrp="1"/>
          </p:cNvSpPr>
          <p:nvPr>
            <p:ph type="title"/>
          </p:nvPr>
        </p:nvSpPr>
        <p:spPr>
          <a:xfrm>
            <a:off x="457200" y="274638"/>
            <a:ext cx="8229600" cy="1143000"/>
          </a:xfrm>
        </p:spPr>
        <p:txBody>
          <a:bodyPr/>
          <a:lstStyle/>
          <a:p>
            <a:r>
              <a:rPr lang="en-US"/>
              <a:t>Click to edit Master title style</a:t>
            </a:r>
          </a:p>
        </p:txBody>
      </p:sp>
      <p:sp>
        <p:nvSpPr>
          <p:cNvPr id="1048747"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9"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5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1" name="Rectangle 32"/>
          <p:cNvSpPr>
            <a:spLocks noGrp="1" noChangeArrowheads="1"/>
          </p:cNvSpPr>
          <p:nvPr>
            <p:ph type="sldNum" sz="quarter" idx="10"/>
          </p:nvPr>
        </p:nvSpPr>
        <p:spPr/>
        <p:txBody>
          <a:bodyPr/>
          <a:lstStyle/>
          <a:p>
            <a:fld id="{505ED405-018E-4712-B102-67532C03A436}"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44" name="Title 1"/>
          <p:cNvSpPr>
            <a:spLocks noGrp="1"/>
          </p:cNvSpPr>
          <p:nvPr>
            <p:ph type="title"/>
          </p:nvPr>
        </p:nvSpPr>
        <p:spPr/>
        <p:txBody>
          <a:bodyPr/>
          <a:lstStyle/>
          <a:p>
            <a:r>
              <a:rPr lang="en-US"/>
              <a:t>Click to edit Master title style</a:t>
            </a:r>
          </a:p>
        </p:txBody>
      </p:sp>
      <p:sp>
        <p:nvSpPr>
          <p:cNvPr id="1048745" name="Rectangle 32"/>
          <p:cNvSpPr>
            <a:spLocks noGrp="1" noChangeArrowheads="1"/>
          </p:cNvSpPr>
          <p:nvPr>
            <p:ph type="sldNum" sz="quarter" idx="10"/>
          </p:nvPr>
        </p:nvSpPr>
        <p:spPr/>
        <p:txBody>
          <a:bodyPr/>
          <a:lstStyle/>
          <a:p>
            <a:fld id="{C76DFAFD-39DE-4C09-957F-770444AD2EE7}"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5" name="Rectangle 32"/>
          <p:cNvSpPr>
            <a:spLocks noGrp="1" noChangeArrowheads="1"/>
          </p:cNvSpPr>
          <p:nvPr>
            <p:ph type="sldNum" sz="quarter" idx="10"/>
          </p:nvPr>
        </p:nvSpPr>
        <p:spPr/>
        <p:txBody>
          <a:bodyPr/>
          <a:lstStyle/>
          <a:p>
            <a:fld id="{D4BA5899-D4CA-40AF-A003-DA39DB7FA9F0}"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43" name="Rectangle 32"/>
          <p:cNvSpPr>
            <a:spLocks noGrp="1" noChangeArrowheads="1"/>
          </p:cNvSpPr>
          <p:nvPr>
            <p:ph type="sldNum" sz="quarter" idx="10"/>
          </p:nvPr>
        </p:nvSpPr>
        <p:spPr/>
        <p:txBody>
          <a:bodyPr/>
          <a:lstStyle/>
          <a:p>
            <a:fld id="{C61FECB9-8477-40F6-AFF1-5D508CBDA423}"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5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0487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61" name="Rectangle 32"/>
          <p:cNvSpPr>
            <a:spLocks noGrp="1" noChangeArrowheads="1"/>
          </p:cNvSpPr>
          <p:nvPr>
            <p:ph type="sldNum" sz="quarter" idx="10"/>
          </p:nvPr>
        </p:nvSpPr>
        <p:spPr/>
        <p:txBody>
          <a:bodyPr/>
          <a:lstStyle/>
          <a:p>
            <a:fld id="{92DFA289-3034-492F-9EFE-1DD35B858C92}"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p>
        </p:txBody>
      </p:sp>
      <p:sp>
        <p:nvSpPr>
          <p:cNvPr id="104875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7" name="Rectangle 32"/>
          <p:cNvSpPr>
            <a:spLocks noGrp="1" noChangeArrowheads="1"/>
          </p:cNvSpPr>
          <p:nvPr>
            <p:ph type="sldNum" sz="quarter" idx="10"/>
          </p:nvPr>
        </p:nvSpPr>
        <p:spPr/>
        <p:txBody>
          <a:bodyPr/>
          <a:lstStyle/>
          <a:p>
            <a:fld id="{F50018D6-4C30-4973-B171-9E35A48AD76A}"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3" name="Vertical Title 1"/>
          <p:cNvSpPr>
            <a:spLocks noGrp="1"/>
          </p:cNvSpPr>
          <p:nvPr>
            <p:ph type="title" orient="vert"/>
          </p:nvPr>
        </p:nvSpPr>
        <p:spPr>
          <a:xfrm>
            <a:off x="6859588" y="1531938"/>
            <a:ext cx="1973262" cy="4619625"/>
          </a:xfrm>
        </p:spPr>
        <p:txBody>
          <a:bodyPr vert="eaVert"/>
          <a:lstStyle/>
          <a:p>
            <a:r>
              <a:rPr lang="en-US"/>
              <a:t>Click to edit Master title style</a:t>
            </a:r>
          </a:p>
        </p:txBody>
      </p:sp>
      <p:sp>
        <p:nvSpPr>
          <p:cNvPr id="1048774" name="Vertical Text Placeholder 2"/>
          <p:cNvSpPr>
            <a:spLocks noGrp="1"/>
          </p:cNvSpPr>
          <p:nvPr>
            <p:ph type="body" orient="vert" idx="1"/>
          </p:nvPr>
        </p:nvSpPr>
        <p:spPr>
          <a:xfrm>
            <a:off x="938213" y="1531938"/>
            <a:ext cx="5768975" cy="4619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5" name="Rectangle 32"/>
          <p:cNvSpPr>
            <a:spLocks noGrp="1" noChangeArrowheads="1"/>
          </p:cNvSpPr>
          <p:nvPr>
            <p:ph type="sldNum" sz="quarter" idx="10"/>
          </p:nvPr>
        </p:nvSpPr>
        <p:spPr/>
        <p:txBody>
          <a:bodyPr/>
          <a:lstStyle/>
          <a:p>
            <a:fld id="{4C42326B-5B0C-4285-BBA0-E92437394B0D}"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1048766" name="Title 1"/>
          <p:cNvSpPr>
            <a:spLocks noGrp="1"/>
          </p:cNvSpPr>
          <p:nvPr>
            <p:ph type="title"/>
          </p:nvPr>
        </p:nvSpPr>
        <p:spPr>
          <a:xfrm>
            <a:off x="938213" y="1531938"/>
            <a:ext cx="7704137" cy="814387"/>
          </a:xfrm>
        </p:spPr>
        <p:txBody>
          <a:bodyPr/>
          <a:lstStyle/>
          <a:p>
            <a:r>
              <a:rPr lang="en-US"/>
              <a:t>Click to edit Master title style</a:t>
            </a:r>
          </a:p>
        </p:txBody>
      </p:sp>
      <p:sp>
        <p:nvSpPr>
          <p:cNvPr id="1048767" name="ClipArt Placeholder 2"/>
          <p:cNvSpPr>
            <a:spLocks noGrp="1"/>
          </p:cNvSpPr>
          <p:nvPr>
            <p:ph type="clipArt" sz="half" idx="1"/>
          </p:nvPr>
        </p:nvSpPr>
        <p:spPr>
          <a:xfrm>
            <a:off x="942975" y="2357438"/>
            <a:ext cx="3868738" cy="3794125"/>
          </a:xfrm>
        </p:spPr>
        <p:txBody>
          <a:bodyPr/>
          <a:lstStyle/>
          <a:p>
            <a:pPr lvl="0"/>
            <a:endParaRPr lang="en-US" noProof="0" dirty="0"/>
          </a:p>
        </p:txBody>
      </p:sp>
      <p:sp>
        <p:nvSpPr>
          <p:cNvPr id="1048768" name="Text Placeholder 3"/>
          <p:cNvSpPr>
            <a:spLocks noGrp="1"/>
          </p:cNvSpPr>
          <p:nvPr>
            <p:ph type="body" sz="half" idx="2"/>
          </p:nvPr>
        </p:nvSpPr>
        <p:spPr>
          <a:xfrm>
            <a:off x="4964113" y="2357438"/>
            <a:ext cx="3868737" cy="379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9" name="Rectangle 32"/>
          <p:cNvSpPr>
            <a:spLocks noGrp="1" noChangeArrowheads="1"/>
          </p:cNvSpPr>
          <p:nvPr>
            <p:ph type="sldNum" sz="quarter" idx="10"/>
          </p:nvPr>
        </p:nvSpPr>
        <p:spPr/>
        <p:txBody>
          <a:bodyPr/>
          <a:lstStyle/>
          <a:p>
            <a:fld id="{3F5F2DE4-4349-44E7-81D1-047624CC0CDA}"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1048738" name="Content Placeholder 1"/>
          <p:cNvSpPr>
            <a:spLocks noGrp="1"/>
          </p:cNvSpPr>
          <p:nvPr>
            <p:ph/>
          </p:nvPr>
        </p:nvSpPr>
        <p:spPr>
          <a:xfrm>
            <a:off x="938213" y="1531938"/>
            <a:ext cx="7894637"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9" name="Rectangle 32"/>
          <p:cNvSpPr>
            <a:spLocks noGrp="1" noChangeArrowheads="1"/>
          </p:cNvSpPr>
          <p:nvPr>
            <p:ph type="sldNum" sz="quarter" idx="10"/>
          </p:nvPr>
        </p:nvSpPr>
        <p:spPr/>
        <p:txBody>
          <a:bodyPr/>
          <a:lstStyle/>
          <a:p>
            <a:fld id="{01817231-5508-4EBA-966A-8DD77BFA0DCB}" type="slidenum">
              <a:rPr lang="en-US">
                <a:solidFill>
                  <a:srgbClr val="000000"/>
                </a:solidFill>
              </a:rPr>
              <a:t>‹#›</a:t>
            </a:fld>
            <a:r>
              <a:rPr lang="en-US" dirty="0">
                <a:solidFill>
                  <a:srgbClr val="000000"/>
                </a:solidFill>
              </a:rPr>
              <a:t>/33</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5049658-1B32-471B-BF08-B398628EF583}" type="datetimeFigureOut">
              <a:rPr lang="en-US"/>
              <a:t>4/14/2026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C698EB-6D6A-44E3-AD2E-820EDD660B89}" type="slidenum">
              <a:rPr lang="en-US"/>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B487F52-83E9-40DA-BAC6-8264382B3B98}" type="datetimeFigureOut">
              <a:rPr lang="en-US"/>
              <a:t>4/14/2026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CE0FC3-80A5-4E6A-8463-A948B12D76EE}" type="slidenum">
              <a:rPr lang="en-US"/>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46B83F-0586-4666-9DEB-0641AD91F7DE}" type="datetimeFigureOut">
              <a:rPr lang="en-US"/>
              <a:t>4/14/2026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671A20-A21B-4CC2-AC43-DD78D41E2568}" type="slidenum">
              <a:rPr lang="en-US"/>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47B3122-F98F-4BFE-9F85-1074B05743EE}" type="datetimeFigureOut">
              <a:rPr lang="en-US"/>
              <a:t>4/14/2026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B2F1653-7A10-4BED-8EBE-29AD2F2289EE}" type="slidenum">
              <a:rPr lang="en-US"/>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6B555E5-4663-408A-987B-5A867A85184F}" type="datetimeFigureOut">
              <a:rPr lang="en-US"/>
              <a:t>4/14/2026</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AA07655-5EE6-4BE7-B31B-9247DF07A360}" type="slidenum">
              <a:rPr lang="en-US"/>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5CD851B-B327-4442-A595-DC3F1CF0D661}" type="datetimeFigureOut">
              <a:rPr lang="en-US"/>
              <a:t>4/14/2026</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F45759B4-0D9D-4AB1-8469-2C9B4A5E591C}" type="slidenum">
              <a:rPr lang="en-US"/>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5DEA563-AD19-4581-A8EF-63BA5981AA7F}" type="datetimeFigureOut">
              <a:rPr lang="en-US"/>
              <a:t>4/14/2026</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5542BD70-19C0-4656-B288-AC71113C2F8D}" type="slidenum">
              <a:rPr lang="en-US"/>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EF4AF67-9202-49C0-9499-80248B40DB4A}" type="datetimeFigureOut">
              <a:rPr lang="en-US"/>
              <a:t>4/14/2026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F0EEF3-D022-4866-ABC3-5FCCD7DC51FA}" type="slidenum">
              <a:rPr lang="en-US"/>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E918AAA-8687-41FE-BF13-707437BC5E1E}" type="datetimeFigureOut">
              <a:rPr lang="en-US"/>
              <a:t>4/14/2026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10BD9D6-140E-43CA-B11F-D41B7FC5D414}" type="slidenum">
              <a:rPr lang="en-US"/>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8B03597-99BF-4D07-AF0D-92BAB1D51340}" type="datetimeFigureOut">
              <a:rPr lang="en-US"/>
              <a:t>4/14/2026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F1ACDDE-A4D3-4E0B-A570-A78689AE3E35}" type="slidenum">
              <a:rPr lang="en-US"/>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45B56C9-71B5-404C-B5A2-B45F21E75A32}" type="datetimeFigureOut">
              <a:rPr lang="en-US"/>
              <a:t>4/14/2026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CB308AD-B6DB-4B82-B1F7-9450F5460026}" type="slidenum">
              <a:rPr lang="en-US"/>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1048738" name="Content Placeholder 1"/>
          <p:cNvSpPr>
            <a:spLocks noGrp="1"/>
          </p:cNvSpPr>
          <p:nvPr>
            <p:ph/>
          </p:nvPr>
        </p:nvSpPr>
        <p:spPr>
          <a:xfrm>
            <a:off x="938213" y="1531938"/>
            <a:ext cx="7894637"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9" name="Rectangle 32"/>
          <p:cNvSpPr>
            <a:spLocks noGrp="1" noChangeArrowheads="1"/>
          </p:cNvSpPr>
          <p:nvPr>
            <p:ph type="sldNum" sz="quarter" idx="10"/>
          </p:nvPr>
        </p:nvSpPr>
        <p:spPr/>
        <p:txBody>
          <a:bodyPr/>
          <a:lstStyle/>
          <a:p>
            <a:fld id="{01817231-5508-4EBA-966A-8DD77BFA0DCB}" type="slidenum">
              <a:rPr lang="en-US">
                <a:solidFill>
                  <a:srgbClr val="000000"/>
                </a:solidFill>
              </a:rPr>
              <a:t>‹#›</a:t>
            </a:fld>
            <a:r>
              <a:rPr lang="en-US" dirty="0">
                <a:solidFill>
                  <a:srgbClr val="000000"/>
                </a:solidFill>
              </a:rPr>
              <a:t>/33</a:t>
            </a:r>
          </a:p>
        </p:txBody>
      </p:sp>
    </p:spTree>
    <p:extLst>
      <p:ext uri="{BB962C8B-B14F-4D97-AF65-F5344CB8AC3E}">
        <p14:creationId xmlns:p14="http://schemas.microsoft.com/office/powerpoint/2010/main" val="175806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4857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fld id="{7CEEEAB8-7E17-497A-821C-77337C4DAA47}" type="datetimeFigureOut">
              <a:rPr lang="en-US"/>
              <a:t>4/14/2026</a:t>
            </a:fld>
            <a:endParaRPr lang="en-US" dirty="0"/>
          </a:p>
        </p:txBody>
      </p:sp>
      <p:sp>
        <p:nvSpPr>
          <p:cNvPr id="1048579"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endParaRPr lang="en-US" dirty="0"/>
          </a:p>
        </p:txBody>
      </p:sp>
      <p:sp>
        <p:nvSpPr>
          <p:cNvPr id="1048580"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fld id="{97B1DD4D-63F8-4EC7-B693-F1F85E5B1C0E}"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CC">
            <a:alpha val="0"/>
          </a:srgbClr>
        </a:solidFill>
        <a:effectLst/>
      </p:bgPr>
    </p:bg>
    <p:spTree>
      <p:nvGrpSpPr>
        <p:cNvPr id="1" name=""/>
        <p:cNvGrpSpPr/>
        <p:nvPr/>
      </p:nvGrpSpPr>
      <p:grpSpPr>
        <a:xfrm>
          <a:off x="0" y="0"/>
          <a:ext cx="0" cy="0"/>
          <a:chOff x="0" y="0"/>
          <a:chExt cx="0" cy="0"/>
        </a:xfrm>
      </p:grpSpPr>
      <p:sp>
        <p:nvSpPr>
          <p:cNvPr id="1048730" name="Rectangle 14"/>
          <p:cNvSpPr>
            <a:spLocks noGrp="1" noChangeArrowheads="1"/>
          </p:cNvSpPr>
          <p:nvPr>
            <p:ph type="body" idx="1"/>
          </p:nvPr>
        </p:nvSpPr>
        <p:spPr bwMode="auto">
          <a:xfrm>
            <a:off x="942975" y="2357438"/>
            <a:ext cx="7889875" cy="3794125"/>
          </a:xfrm>
          <a:prstGeom prst="rect">
            <a:avLst/>
          </a:prstGeom>
          <a:noFill/>
          <a:ln>
            <a:noFill/>
          </a:ln>
        </p:spPr>
        <p:txBody>
          <a:bodyPr vert="horz" wrap="square" lIns="91440" tIns="45720" rIns="91440" bIns="45720" numCol="1" anchor="t" anchorCtr="0" compatLnSpc="1"/>
          <a:lstStyle/>
          <a:p>
            <a:pPr lvl="0"/>
            <a:r>
              <a:rPr lang="en-US"/>
              <a:t>Slide text</a:t>
            </a:r>
          </a:p>
        </p:txBody>
      </p:sp>
      <p:sp>
        <p:nvSpPr>
          <p:cNvPr id="1048731" name="Rectangle 20"/>
          <p:cNvSpPr>
            <a:spLocks noChangeArrowheads="1"/>
          </p:cNvSpPr>
          <p:nvPr/>
        </p:nvSpPr>
        <p:spPr bwMode="auto">
          <a:xfrm>
            <a:off x="2971800" y="0"/>
            <a:ext cx="6172200" cy="627063"/>
          </a:xfrm>
          <a:prstGeom prst="rect">
            <a:avLst/>
          </a:prstGeom>
          <a:solidFill>
            <a:srgbClr val="FDCB0C"/>
          </a:solidFill>
          <a:ln>
            <a:noFill/>
          </a:ln>
        </p:spPr>
        <p:txBody>
          <a:bodyPr wrap="none" anchor="ctr"/>
          <a:lstStyle/>
          <a:p>
            <a:pPr algn="ctr" eaLnBrk="0" hangingPunct="0"/>
            <a:endParaRPr lang="en-US" sz="2400" dirty="0">
              <a:solidFill>
                <a:srgbClr val="000000"/>
              </a:solidFill>
              <a:latin typeface="Times" pitchFamily="18" charset="0"/>
            </a:endParaRPr>
          </a:p>
        </p:txBody>
      </p:sp>
      <p:sp>
        <p:nvSpPr>
          <p:cNvPr id="1048732" name="Rectangle 22"/>
          <p:cNvSpPr>
            <a:spLocks noGrp="1" noChangeArrowheads="1"/>
          </p:cNvSpPr>
          <p:nvPr>
            <p:ph type="title"/>
          </p:nvPr>
        </p:nvSpPr>
        <p:spPr bwMode="auto">
          <a:xfrm>
            <a:off x="938213" y="1531938"/>
            <a:ext cx="7704137" cy="814387"/>
          </a:xfrm>
          <a:prstGeom prst="rect">
            <a:avLst/>
          </a:prstGeom>
          <a:noFill/>
          <a:ln>
            <a:noFill/>
          </a:ln>
        </p:spPr>
        <p:txBody>
          <a:bodyPr vert="horz" wrap="square" lIns="91440" tIns="45720" rIns="91440" bIns="45720" numCol="1" anchor="ctr" anchorCtr="0" compatLnSpc="1"/>
          <a:lstStyle/>
          <a:p>
            <a:pPr lvl="0"/>
            <a:r>
              <a:rPr lang="en-US"/>
              <a:t>Slide Title</a:t>
            </a:r>
          </a:p>
        </p:txBody>
      </p:sp>
      <p:pic>
        <p:nvPicPr>
          <p:cNvPr id="2097167" name="Picture 29" descr="gprec"/>
          <p:cNvPicPr>
            <a:picLocks noChangeAspect="1" noChangeArrowheads="1"/>
          </p:cNvPicPr>
          <p:nvPr/>
        </p:nvPicPr>
        <p:blipFill>
          <a:blip r:embed="rId15">
            <a:clrChange>
              <a:clrFrom>
                <a:srgbClr val="FEFEFE"/>
              </a:clrFrom>
              <a:clrTo>
                <a:srgbClr val="FEFEFE">
                  <a:alpha val="0"/>
                </a:srgbClr>
              </a:clrTo>
            </a:clrChange>
          </a:blip>
          <a:srcRect/>
          <a:stretch>
            <a:fillRect/>
          </a:stretch>
        </p:blipFill>
        <p:spPr bwMode="auto">
          <a:xfrm>
            <a:off x="0" y="0"/>
            <a:ext cx="1828800" cy="708025"/>
          </a:xfrm>
          <a:prstGeom prst="rect">
            <a:avLst/>
          </a:prstGeom>
          <a:noFill/>
          <a:ln>
            <a:noFill/>
          </a:ln>
        </p:spPr>
      </p:pic>
      <p:pic>
        <p:nvPicPr>
          <p:cNvPr id="2097168" name="Picture 30" descr="slogan"/>
          <p:cNvPicPr>
            <a:picLocks noChangeAspect="1" noChangeArrowheads="1"/>
          </p:cNvPicPr>
          <p:nvPr/>
        </p:nvPicPr>
        <p:blipFill>
          <a:blip r:embed="rId16">
            <a:clrChange>
              <a:clrFrom>
                <a:srgbClr val="FCFCFC"/>
              </a:clrFrom>
              <a:clrTo>
                <a:srgbClr val="FCFCFC">
                  <a:alpha val="0"/>
                </a:srgbClr>
              </a:clrTo>
            </a:clrChange>
          </a:blip>
          <a:srcRect/>
          <a:stretch>
            <a:fillRect/>
          </a:stretch>
        </p:blipFill>
        <p:spPr bwMode="auto">
          <a:xfrm>
            <a:off x="6743700" y="6096000"/>
            <a:ext cx="2286000" cy="611188"/>
          </a:xfrm>
          <a:prstGeom prst="rect">
            <a:avLst/>
          </a:prstGeom>
          <a:noFill/>
          <a:ln>
            <a:noFill/>
          </a:ln>
        </p:spPr>
      </p:pic>
      <p:sp>
        <p:nvSpPr>
          <p:cNvPr id="1048733" name="Rectangle 32"/>
          <p:cNvSpPr>
            <a:spLocks noGrp="1" noChangeArrowheads="1"/>
          </p:cNvSpPr>
          <p:nvPr>
            <p:ph type="sldNum" sz="quarter" idx="4"/>
          </p:nvPr>
        </p:nvSpPr>
        <p:spPr bwMode="auto">
          <a:xfrm>
            <a:off x="6780213" y="6215063"/>
            <a:ext cx="240665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fld id="{52590367-E891-4DC4-8E3F-A4680C08E849}" type="slidenum">
              <a:rPr lang="en-US">
                <a:solidFill>
                  <a:srgbClr val="000000"/>
                </a:solidFill>
              </a:rPr>
              <a:t>‹#›</a:t>
            </a:fld>
            <a:r>
              <a:rPr lang="en-US" dirty="0">
                <a:solidFill>
                  <a:srgbClr val="000000"/>
                </a:solidFill>
              </a:rPr>
              <a:t>/33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Trebuchet MS" panose="020B0603020202020204" pitchFamily="34" charset="0"/>
        </a:defRPr>
      </a:lvl2pPr>
      <a:lvl3pPr algn="l" rtl="0" eaLnBrk="0" fontAlgn="base" hangingPunct="0">
        <a:spcBef>
          <a:spcPct val="0"/>
        </a:spcBef>
        <a:spcAft>
          <a:spcPct val="0"/>
        </a:spcAft>
        <a:defRPr sz="3400">
          <a:solidFill>
            <a:schemeClr val="tx1"/>
          </a:solidFill>
          <a:latin typeface="Trebuchet MS" panose="020B0603020202020204" pitchFamily="34" charset="0"/>
        </a:defRPr>
      </a:lvl3pPr>
      <a:lvl4pPr algn="l" rtl="0" eaLnBrk="0" fontAlgn="base" hangingPunct="0">
        <a:spcBef>
          <a:spcPct val="0"/>
        </a:spcBef>
        <a:spcAft>
          <a:spcPct val="0"/>
        </a:spcAft>
        <a:defRPr sz="3400">
          <a:solidFill>
            <a:schemeClr val="tx1"/>
          </a:solidFill>
          <a:latin typeface="Trebuchet MS" panose="020B0603020202020204" pitchFamily="34" charset="0"/>
        </a:defRPr>
      </a:lvl4pPr>
      <a:lvl5pPr algn="l" rtl="0" eaLnBrk="0" fontAlgn="base" hangingPunct="0">
        <a:spcBef>
          <a:spcPct val="0"/>
        </a:spcBef>
        <a:spcAft>
          <a:spcPct val="0"/>
        </a:spcAft>
        <a:defRPr sz="3400">
          <a:solidFill>
            <a:schemeClr val="tx1"/>
          </a:solidFill>
          <a:latin typeface="Trebuchet MS" panose="020B0603020202020204" pitchFamily="34" charset="0"/>
        </a:defRPr>
      </a:lvl5pPr>
      <a:lvl6pPr marL="457200" algn="l" rtl="0" fontAlgn="base">
        <a:spcBef>
          <a:spcPct val="0"/>
        </a:spcBef>
        <a:spcAft>
          <a:spcPct val="0"/>
        </a:spcAft>
        <a:defRPr sz="3400">
          <a:solidFill>
            <a:schemeClr val="tx1"/>
          </a:solidFill>
          <a:latin typeface="Trebuchet MS" panose="020B0603020202020204" pitchFamily="34" charset="0"/>
        </a:defRPr>
      </a:lvl6pPr>
      <a:lvl7pPr marL="914400" algn="l" rtl="0" fontAlgn="base">
        <a:spcBef>
          <a:spcPct val="0"/>
        </a:spcBef>
        <a:spcAft>
          <a:spcPct val="0"/>
        </a:spcAft>
        <a:defRPr sz="3400">
          <a:solidFill>
            <a:schemeClr val="tx1"/>
          </a:solidFill>
          <a:latin typeface="Trebuchet MS" panose="020B0603020202020204" pitchFamily="34" charset="0"/>
        </a:defRPr>
      </a:lvl7pPr>
      <a:lvl8pPr marL="1371600" algn="l" rtl="0" fontAlgn="base">
        <a:spcBef>
          <a:spcPct val="0"/>
        </a:spcBef>
        <a:spcAft>
          <a:spcPct val="0"/>
        </a:spcAft>
        <a:defRPr sz="3400">
          <a:solidFill>
            <a:schemeClr val="tx1"/>
          </a:solidFill>
          <a:latin typeface="Trebuchet MS" panose="020B0603020202020204" pitchFamily="34" charset="0"/>
        </a:defRPr>
      </a:lvl8pPr>
      <a:lvl9pPr marL="1828800" algn="l" rtl="0" fontAlgn="base">
        <a:spcBef>
          <a:spcPct val="0"/>
        </a:spcBef>
        <a:spcAft>
          <a:spcPct val="0"/>
        </a:spcAft>
        <a:defRPr sz="3400">
          <a:solidFill>
            <a:schemeClr val="tx1"/>
          </a:solidFill>
          <a:latin typeface="Trebuchet MS" panose="020B0603020202020204" pitchFamily="34" charset="0"/>
        </a:defRPr>
      </a:lvl9pPr>
    </p:titleStyle>
    <p:bodyStyle>
      <a:lvl1pPr marL="342900" indent="-342900" algn="l" rtl="0" eaLnBrk="0" fontAlgn="base" hangingPunct="0">
        <a:spcBef>
          <a:spcPct val="20000"/>
        </a:spcBef>
        <a:spcAft>
          <a:spcPct val="0"/>
        </a:spcAft>
        <a:buClr>
          <a:schemeClr val="tx1"/>
        </a:buClr>
        <a:buChar char="•"/>
        <a:defRPr sz="1600">
          <a:solidFill>
            <a:srgbClr val="7F7F79"/>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lum/>
          </a:blip>
          <a:srcRect/>
          <a:stretch>
            <a:fillRect l="-2000" r="-2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CEEEAB8-7E17-497A-821C-77337C4DAA47}" type="datetimeFigureOut">
              <a:rPr lang="en-US"/>
              <a:t>4/14/2026</a:t>
            </a:fld>
            <a:endParaRPr lang="en-US" dirty="0"/>
          </a:p>
        </p:txBody>
      </p:sp>
      <p:sp>
        <p:nvSpPr>
          <p:cNvPr id="5"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7B1DD4D-63F8-4EC7-B693-F1F85E5B1C0E}"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extBox 3"/>
          <p:cNvSpPr txBox="1"/>
          <p:nvPr/>
        </p:nvSpPr>
        <p:spPr>
          <a:xfrm>
            <a:off x="324010" y="4795947"/>
            <a:ext cx="8551859" cy="1024974"/>
          </a:xfrm>
          <a:prstGeom prst="rect">
            <a:avLst/>
          </a:prstGeom>
          <a:noFill/>
        </p:spPr>
        <p:txBody>
          <a:bodyPr wrap="square">
            <a:noAutofit/>
          </a:bodyPr>
          <a:lstStyle/>
          <a:p>
            <a:pPr algn="ctr"/>
            <a:r>
              <a:rPr lang="en-US" b="1" dirty="0">
                <a:solidFill>
                  <a:srgbClr val="0000FF"/>
                </a:solidFill>
                <a:latin typeface="+mj-lt"/>
                <a:ea typeface="Calibri" panose="020F0502020204030204"/>
                <a:cs typeface="Calibri" panose="020F0502020204030204"/>
              </a:rPr>
              <a:t>DEPARTMENT OF DATA SCIENCE</a:t>
            </a:r>
          </a:p>
          <a:p>
            <a:pPr algn="ctr"/>
            <a:r>
              <a:rPr lang="en-US" sz="2400" b="1" dirty="0">
                <a:solidFill>
                  <a:srgbClr val="C00000"/>
                </a:solidFill>
                <a:latin typeface="+mj-lt"/>
                <a:cs typeface="Times" panose="02020603050405020304" pitchFamily="18" charset="0"/>
              </a:rPr>
              <a:t>G PULLAIAH COLLEGE OF ENGINEERING AND TECHNOLOGY</a:t>
            </a:r>
          </a:p>
          <a:p>
            <a:pPr algn="ctr"/>
            <a:r>
              <a:rPr lang="en-US" b="1" dirty="0">
                <a:latin typeface="+mj-lt"/>
                <a:ea typeface="Calibri" panose="020F0502020204030204"/>
                <a:cs typeface="Calibri" panose="020F0502020204030204"/>
              </a:rPr>
              <a:t>(An Autonomous Institute affiliated to JNTUA, Ananthapuramu)</a:t>
            </a:r>
          </a:p>
        </p:txBody>
      </p:sp>
      <p:sp>
        <p:nvSpPr>
          <p:cNvPr id="1048621" name="Title 1"/>
          <p:cNvSpPr>
            <a:spLocks noGrp="1"/>
          </p:cNvSpPr>
          <p:nvPr>
            <p:ph type="ctrTitle"/>
          </p:nvPr>
        </p:nvSpPr>
        <p:spPr>
          <a:xfrm>
            <a:off x="2438399" y="1965750"/>
            <a:ext cx="4267201" cy="1463250"/>
          </a:xfrm>
        </p:spPr>
        <p:txBody>
          <a:bodyPr anchor="t"/>
          <a:lstStyle/>
          <a:p>
            <a:pPr eaLnBrk="1" hangingPunct="1"/>
            <a:r>
              <a:rPr lang="en-IN" altLang="en-US" sz="2000" b="1" dirty="0">
                <a:solidFill>
                  <a:srgbClr val="0000FF"/>
                </a:solidFill>
                <a:latin typeface="+mn-lt"/>
                <a:cs typeface="Times New Roman" panose="02020603050405020304" charset="0"/>
                <a:sym typeface="+mn-ea"/>
              </a:rPr>
              <a:t>TEAM MEMBERS</a:t>
            </a:r>
            <a:br>
              <a:rPr lang="en-IN" altLang="en-US" sz="1800" b="1" dirty="0">
                <a:latin typeface="+mn-lt"/>
                <a:cs typeface="Times New Roman" panose="02020603050405020304" charset="0"/>
                <a:sym typeface="+mn-ea"/>
              </a:rPr>
            </a:br>
            <a:r>
              <a:rPr lang="en-IN" altLang="en-US" sz="1800" b="1" dirty="0">
                <a:latin typeface="+mn-lt"/>
                <a:cs typeface="Times New Roman" panose="02020603050405020304" charset="0"/>
                <a:sym typeface="+mn-ea"/>
              </a:rPr>
              <a:t>Golla Mounika – 22AT1A3211</a:t>
            </a:r>
            <a:br>
              <a:rPr lang="en-IN" altLang="en-US" sz="1800" b="1" dirty="0">
                <a:latin typeface="+mn-lt"/>
                <a:cs typeface="Times New Roman" panose="02020603050405020304" charset="0"/>
                <a:sym typeface="+mn-ea"/>
              </a:rPr>
            </a:br>
            <a:r>
              <a:rPr lang="en-IN" altLang="en-US" sz="1800" b="1" dirty="0">
                <a:latin typeface="+mn-lt"/>
                <a:cs typeface="Times New Roman" panose="02020603050405020304" charset="0"/>
                <a:sym typeface="+mn-ea"/>
              </a:rPr>
              <a:t>M Jhansi Lakshmi – 22AT1A3228</a:t>
            </a:r>
            <a:br>
              <a:rPr lang="en-IN" altLang="en-US" sz="1800" b="1" dirty="0">
                <a:latin typeface="+mn-lt"/>
                <a:cs typeface="Times New Roman" panose="02020603050405020304" charset="0"/>
                <a:sym typeface="+mn-ea"/>
              </a:rPr>
            </a:br>
            <a:r>
              <a:rPr lang="en-IN" altLang="en-US" sz="1800" b="1" dirty="0">
                <a:latin typeface="+mn-lt"/>
                <a:cs typeface="Times New Roman" panose="02020603050405020304" charset="0"/>
                <a:sym typeface="+mn-ea"/>
              </a:rPr>
              <a:t>S Arshiya Tarannum – 23AT5A3207</a:t>
            </a:r>
            <a:br>
              <a:rPr lang="en-IN" altLang="en-US" sz="1800" b="1" dirty="0">
                <a:latin typeface="+mn-lt"/>
                <a:cs typeface="Times New Roman" panose="02020603050405020304" charset="0"/>
                <a:sym typeface="+mn-ea"/>
              </a:rPr>
            </a:br>
            <a:r>
              <a:rPr lang="en-IN" altLang="en-US" sz="1800" b="1" dirty="0" err="1">
                <a:latin typeface="+mn-lt"/>
                <a:cs typeface="Times New Roman" panose="02020603050405020304" charset="0"/>
                <a:sym typeface="+mn-ea"/>
              </a:rPr>
              <a:t>Vidapanakallu</a:t>
            </a:r>
            <a:r>
              <a:rPr lang="en-IN" altLang="en-US" sz="1800" b="1" dirty="0">
                <a:latin typeface="+mn-lt"/>
                <a:cs typeface="Times New Roman" panose="02020603050405020304" charset="0"/>
                <a:sym typeface="+mn-ea"/>
              </a:rPr>
              <a:t> Harshini – 22AT1A3247</a:t>
            </a:r>
            <a:br>
              <a:rPr lang="en-IN" altLang="en-US" sz="1800" b="1" dirty="0">
                <a:latin typeface="Trebuchet MS" panose="020B0603020202020204" pitchFamily="34" charset="0"/>
                <a:cs typeface="Times New Roman" panose="02020603050405020304" charset="0"/>
                <a:sym typeface="+mn-ea"/>
              </a:rPr>
            </a:br>
            <a:br>
              <a:rPr lang="en-IN" altLang="en-US" sz="1400" b="1" dirty="0">
                <a:solidFill>
                  <a:srgbClr val="C00000"/>
                </a:solidFill>
                <a:latin typeface="+mn-lt"/>
                <a:cs typeface="Times New Roman" panose="02020603050405020304" charset="0"/>
              </a:rPr>
            </a:br>
            <a:br>
              <a:rPr lang="en-IN" altLang="en-US" sz="1400" b="1" dirty="0">
                <a:solidFill>
                  <a:srgbClr val="C00000"/>
                </a:solidFill>
                <a:latin typeface="+mn-lt"/>
                <a:cs typeface="Times New Roman" panose="02020603050405020304" charset="0"/>
                <a:sym typeface="+mn-ea"/>
              </a:rPr>
            </a:br>
            <a:br>
              <a:rPr lang="en-US" altLang="en-US" sz="1400" b="1" dirty="0">
                <a:latin typeface="+mn-lt"/>
                <a:cs typeface="Times New Roman" panose="02020603050405020304" charset="0"/>
              </a:rPr>
            </a:br>
            <a:br>
              <a:rPr lang="en-US" sz="2000" b="1" baseline="0" dirty="0">
                <a:solidFill>
                  <a:srgbClr val="0000FF"/>
                </a:solidFill>
                <a:latin typeface="Trebuchet MS" panose="020B0603020202020204" pitchFamily="34" charset="0"/>
                <a:cs typeface="Times New Roman" panose="02020603050405020304" charset="0"/>
              </a:rPr>
            </a:br>
            <a:r>
              <a:rPr lang="en-US" sz="2000" b="1" baseline="0" dirty="0">
                <a:solidFill>
                  <a:srgbClr val="0000FF"/>
                </a:solidFill>
                <a:latin typeface="Trebuchet MS" panose="020B0603020202020204" pitchFamily="34" charset="0"/>
                <a:cs typeface="Times New Roman" panose="02020603050405020304" charset="0"/>
              </a:rPr>
              <a:t> </a:t>
            </a:r>
            <a:br>
              <a:rPr lang="en-US" sz="2000" b="1" baseline="0" dirty="0">
                <a:solidFill>
                  <a:srgbClr val="0000FF"/>
                </a:solidFill>
                <a:latin typeface="Trebuchet MS" panose="020B0603020202020204" pitchFamily="34" charset="0"/>
                <a:cs typeface="Times New Roman" panose="02020603050405020304" charset="0"/>
              </a:rPr>
            </a:br>
            <a:endParaRPr lang="en-US" altLang="en-IN" sz="2000" b="1" dirty="0">
              <a:solidFill>
                <a:srgbClr val="000099"/>
              </a:solidFill>
              <a:latin typeface="dosis"/>
              <a:cs typeface="Times New Roman" panose="02020603050405020304" charset="0"/>
            </a:endParaRPr>
          </a:p>
        </p:txBody>
      </p:sp>
      <p:sp>
        <p:nvSpPr>
          <p:cNvPr id="1048623" name="Rectangle 2"/>
          <p:cNvSpPr/>
          <p:nvPr/>
        </p:nvSpPr>
        <p:spPr>
          <a:xfrm>
            <a:off x="4953000" y="4495800"/>
            <a:ext cx="4124960" cy="1639570"/>
          </a:xfrm>
          <a:prstGeom prst="rect">
            <a:avLst/>
          </a:prstGeom>
        </p:spPr>
        <p:txBody>
          <a:bodyPr wrap="square">
            <a:noAutofit/>
          </a:bodyPr>
          <a:lstStyle/>
          <a:p>
            <a:pPr algn="ctr" eaLnBrk="1" hangingPunct="1"/>
            <a:endParaRPr lang="en-IN" altLang="en-US" b="1" dirty="0">
              <a:latin typeface="Trebuchet MS" panose="020B0603020202020204" pitchFamily="34" charset="0"/>
              <a:cs typeface="Times New Roman" panose="02020603050405020304" charset="0"/>
            </a:endParaRPr>
          </a:p>
          <a:p>
            <a:pPr algn="ctr" eaLnBrk="1" hangingPunct="1"/>
            <a:endParaRPr lang="en-IN" altLang="en-US" b="1" dirty="0">
              <a:latin typeface="Trebuchet MS" panose="020B0603020202020204" pitchFamily="34" charset="0"/>
              <a:cs typeface="Times New Roman" panose="02020603050405020304" charset="0"/>
            </a:endParaRPr>
          </a:p>
          <a:p>
            <a:pPr algn="ctr" eaLnBrk="1" hangingPunct="1"/>
            <a:endParaRPr lang="en-IN" altLang="en-US" b="1" dirty="0">
              <a:latin typeface="Trebuchet MS" panose="020B0603020202020204" pitchFamily="34" charset="0"/>
              <a:cs typeface="Times New Roman" panose="02020603050405020304" charset="0"/>
            </a:endParaRPr>
          </a:p>
        </p:txBody>
      </p:sp>
      <p:sp>
        <p:nvSpPr>
          <p:cNvPr id="2" name="TextBox 1">
            <a:extLst>
              <a:ext uri="{FF2B5EF4-FFF2-40B4-BE49-F238E27FC236}">
                <a16:creationId xmlns:a16="http://schemas.microsoft.com/office/drawing/2014/main" id="{819D7F37-9018-65A0-0250-82A7445D8A83}"/>
              </a:ext>
            </a:extLst>
          </p:cNvPr>
          <p:cNvSpPr txBox="1"/>
          <p:nvPr/>
        </p:nvSpPr>
        <p:spPr>
          <a:xfrm>
            <a:off x="428555" y="984352"/>
            <a:ext cx="8458200" cy="1384995"/>
          </a:xfrm>
          <a:prstGeom prst="rect">
            <a:avLst/>
          </a:prstGeom>
          <a:noFill/>
        </p:spPr>
        <p:txBody>
          <a:bodyPr wrap="square" rtlCol="0">
            <a:spAutoFit/>
          </a:bodyPr>
          <a:lstStyle/>
          <a:p>
            <a:pPr algn="ctr"/>
            <a:r>
              <a:rPr lang="en-IN" sz="3200" b="1" dirty="0">
                <a:solidFill>
                  <a:srgbClr val="008000"/>
                </a:solidFill>
                <a:latin typeface="Arial Black" panose="020B0A04020102020204" pitchFamily="34" charset="0"/>
              </a:rPr>
              <a:t> </a:t>
            </a:r>
            <a:r>
              <a:rPr lang="en-US" b="1" dirty="0"/>
              <a:t>INTEGRATING EFFICIENTNET-B0 AND VISION TRANSFORMERS FOR ENHANCED GLOBAL AND LOCAL DIAGNOSTIC REASONING</a:t>
            </a:r>
            <a:endParaRPr lang="en-US" dirty="0"/>
          </a:p>
          <a:p>
            <a:pPr algn="ctr"/>
            <a:endParaRPr lang="en-IN" sz="3200" b="1" dirty="0">
              <a:solidFill>
                <a:srgbClr val="008000"/>
              </a:solidFill>
              <a:latin typeface="+mn-lt"/>
            </a:endParaRPr>
          </a:p>
        </p:txBody>
      </p:sp>
      <p:sp>
        <p:nvSpPr>
          <p:cNvPr id="3" name="TextBox 2">
            <a:extLst>
              <a:ext uri="{FF2B5EF4-FFF2-40B4-BE49-F238E27FC236}">
                <a16:creationId xmlns:a16="http://schemas.microsoft.com/office/drawing/2014/main" id="{C54C3CCC-FF8A-801D-AFFE-1F31F29416CC}"/>
              </a:ext>
            </a:extLst>
          </p:cNvPr>
          <p:cNvSpPr txBox="1"/>
          <p:nvPr/>
        </p:nvSpPr>
        <p:spPr>
          <a:xfrm>
            <a:off x="6300310" y="3504359"/>
            <a:ext cx="2575559" cy="1032847"/>
          </a:xfrm>
          <a:prstGeom prst="rect">
            <a:avLst/>
          </a:prstGeom>
          <a:noFill/>
        </p:spPr>
        <p:txBody>
          <a:bodyPr wrap="square" rtlCol="0">
            <a:spAutoFit/>
          </a:bodyPr>
          <a:lstStyle/>
          <a:p>
            <a:pPr algn="ctr" defTabSz="685800" fontAlgn="auto">
              <a:lnSpc>
                <a:spcPct val="120000"/>
              </a:lnSpc>
              <a:spcBef>
                <a:spcPts val="0"/>
              </a:spcBef>
              <a:spcAft>
                <a:spcPts val="0"/>
              </a:spcAft>
            </a:pPr>
            <a:r>
              <a:rPr lang="en-US" sz="2000" b="1" dirty="0">
                <a:solidFill>
                  <a:srgbClr val="0000FF"/>
                </a:solidFill>
                <a:latin typeface="+mn-lt"/>
                <a:cs typeface="Times New Roman" panose="02020603050405020304" charset="0"/>
              </a:rPr>
              <a:t>Project Guide </a:t>
            </a:r>
          </a:p>
          <a:p>
            <a:pPr algn="ctr" defTabSz="685800" fontAlgn="auto">
              <a:lnSpc>
                <a:spcPct val="120000"/>
              </a:lnSpc>
              <a:spcBef>
                <a:spcPts val="0"/>
              </a:spcBef>
              <a:spcAft>
                <a:spcPts val="0"/>
              </a:spcAft>
            </a:pPr>
            <a:r>
              <a:rPr lang="en-IN" sz="1600" b="1" dirty="0">
                <a:solidFill>
                  <a:srgbClr val="C00000"/>
                </a:solidFill>
                <a:latin typeface="+mn-lt"/>
              </a:rPr>
              <a:t>K VINOD KUMAR REDDY</a:t>
            </a:r>
            <a:r>
              <a:rPr lang="en-IN" sz="1400" b="1" dirty="0">
                <a:solidFill>
                  <a:srgbClr val="C00000"/>
                </a:solidFill>
                <a:latin typeface="+mn-lt"/>
              </a:rPr>
              <a:t> </a:t>
            </a:r>
            <a:r>
              <a:rPr lang="en-IN" sz="1400" b="1" dirty="0" err="1">
                <a:solidFill>
                  <a:srgbClr val="C00000"/>
                </a:solidFill>
                <a:latin typeface="+mn-lt"/>
              </a:rPr>
              <a:t>M.Tech</a:t>
            </a:r>
            <a:r>
              <a:rPr lang="en-IN" sz="1400" b="1" dirty="0">
                <a:solidFill>
                  <a:srgbClr val="C00000"/>
                </a:solidFill>
                <a:latin typeface="+mn-lt"/>
              </a:rPr>
              <a:t>, PhD</a:t>
            </a:r>
            <a:endParaRPr lang="en-US" sz="1100" b="1" dirty="0">
              <a:solidFill>
                <a:srgbClr val="C00000"/>
              </a:solidFill>
              <a:latin typeface="+mn-lt"/>
            </a:endParaRPr>
          </a:p>
        </p:txBody>
      </p:sp>
      <p:sp>
        <p:nvSpPr>
          <p:cNvPr id="4" name="TextBox 3">
            <a:extLst>
              <a:ext uri="{FF2B5EF4-FFF2-40B4-BE49-F238E27FC236}">
                <a16:creationId xmlns:a16="http://schemas.microsoft.com/office/drawing/2014/main" id="{3219A5FF-8918-7BE3-83C4-E3C794A05D71}"/>
              </a:ext>
            </a:extLst>
          </p:cNvPr>
          <p:cNvSpPr txBox="1"/>
          <p:nvPr/>
        </p:nvSpPr>
        <p:spPr>
          <a:xfrm>
            <a:off x="3187379" y="3557565"/>
            <a:ext cx="2895600" cy="1035348"/>
          </a:xfrm>
          <a:prstGeom prst="rect">
            <a:avLst/>
          </a:prstGeom>
          <a:noFill/>
        </p:spPr>
        <p:txBody>
          <a:bodyPr wrap="square" rtlCol="0">
            <a:spAutoFit/>
          </a:bodyPr>
          <a:lstStyle/>
          <a:p>
            <a:pPr algn="ctr" defTabSz="685800" fontAlgn="auto">
              <a:lnSpc>
                <a:spcPct val="120000"/>
              </a:lnSpc>
              <a:spcBef>
                <a:spcPts val="0"/>
              </a:spcBef>
              <a:spcAft>
                <a:spcPts val="0"/>
              </a:spcAft>
            </a:pPr>
            <a:r>
              <a:rPr lang="en-US" sz="2000" b="1" dirty="0">
                <a:solidFill>
                  <a:srgbClr val="0000FF"/>
                </a:solidFill>
                <a:latin typeface="+mn-lt"/>
                <a:cs typeface="Times New Roman" panose="02020603050405020304" charset="0"/>
              </a:rPr>
              <a:t>HOD</a:t>
            </a:r>
          </a:p>
          <a:p>
            <a:pPr algn="ctr" defTabSz="685800" fontAlgn="auto">
              <a:lnSpc>
                <a:spcPct val="120000"/>
              </a:lnSpc>
              <a:spcBef>
                <a:spcPts val="0"/>
              </a:spcBef>
              <a:spcAft>
                <a:spcPts val="0"/>
              </a:spcAft>
            </a:pPr>
            <a:r>
              <a:rPr lang="en-US" b="1" dirty="0">
                <a:solidFill>
                  <a:srgbClr val="C00000"/>
                </a:solidFill>
                <a:latin typeface="+mn-lt"/>
              </a:rPr>
              <a:t>  </a:t>
            </a:r>
            <a:r>
              <a:rPr lang="en-US" b="1" dirty="0" err="1">
                <a:solidFill>
                  <a:srgbClr val="C00000"/>
                </a:solidFill>
                <a:latin typeface="+mn-lt"/>
              </a:rPr>
              <a:t>Dr.P.Suman</a:t>
            </a:r>
            <a:r>
              <a:rPr lang="en-US" b="1" dirty="0">
                <a:solidFill>
                  <a:srgbClr val="C00000"/>
                </a:solidFill>
                <a:latin typeface="+mn-lt"/>
              </a:rPr>
              <a:t> Prakash</a:t>
            </a:r>
          </a:p>
          <a:p>
            <a:pPr algn="ctr" defTabSz="685800" fontAlgn="auto">
              <a:lnSpc>
                <a:spcPct val="120000"/>
              </a:lnSpc>
              <a:spcBef>
                <a:spcPts val="0"/>
              </a:spcBef>
              <a:spcAft>
                <a:spcPts val="0"/>
              </a:spcAft>
            </a:pPr>
            <a:r>
              <a:rPr lang="en-US" sz="1400" b="1" dirty="0" err="1">
                <a:solidFill>
                  <a:srgbClr val="C00000"/>
                </a:solidFill>
                <a:latin typeface="+mn-lt"/>
              </a:rPr>
              <a:t>M.Tech,PhD</a:t>
            </a:r>
            <a:endParaRPr lang="en-US" sz="1400" b="1" dirty="0">
              <a:solidFill>
                <a:srgbClr val="C00000"/>
              </a:solidFill>
              <a:latin typeface="+mn-lt"/>
            </a:endParaRPr>
          </a:p>
        </p:txBody>
      </p:sp>
      <p:sp>
        <p:nvSpPr>
          <p:cNvPr id="5" name="TextBox 4">
            <a:extLst>
              <a:ext uri="{FF2B5EF4-FFF2-40B4-BE49-F238E27FC236}">
                <a16:creationId xmlns:a16="http://schemas.microsoft.com/office/drawing/2014/main" id="{943ABFF3-0384-6837-64A4-6C7C958616B7}"/>
              </a:ext>
            </a:extLst>
          </p:cNvPr>
          <p:cNvSpPr txBox="1"/>
          <p:nvPr/>
        </p:nvSpPr>
        <p:spPr>
          <a:xfrm>
            <a:off x="192398" y="3557565"/>
            <a:ext cx="2895600" cy="1069780"/>
          </a:xfrm>
          <a:prstGeom prst="rect">
            <a:avLst/>
          </a:prstGeom>
          <a:noFill/>
        </p:spPr>
        <p:txBody>
          <a:bodyPr wrap="square" rtlCol="0">
            <a:spAutoFit/>
          </a:bodyPr>
          <a:lstStyle/>
          <a:p>
            <a:pPr algn="ctr" defTabSz="685800" fontAlgn="auto">
              <a:lnSpc>
                <a:spcPct val="120000"/>
              </a:lnSpc>
              <a:spcBef>
                <a:spcPts val="0"/>
              </a:spcBef>
              <a:spcAft>
                <a:spcPts val="0"/>
              </a:spcAft>
            </a:pPr>
            <a:r>
              <a:rPr lang="en-US" sz="2000" b="1" dirty="0">
                <a:solidFill>
                  <a:srgbClr val="0000FF"/>
                </a:solidFill>
                <a:latin typeface="+mn-lt"/>
                <a:cs typeface="Times New Roman" panose="02020603050405020304" charset="0"/>
              </a:rPr>
              <a:t>Project Co-Ordinator</a:t>
            </a:r>
          </a:p>
          <a:p>
            <a:pPr algn="ctr" defTabSz="685800" fontAlgn="auto">
              <a:lnSpc>
                <a:spcPct val="120000"/>
              </a:lnSpc>
              <a:spcBef>
                <a:spcPts val="0"/>
              </a:spcBef>
              <a:spcAft>
                <a:spcPts val="0"/>
              </a:spcAft>
            </a:pPr>
            <a:r>
              <a:rPr lang="en-IN" b="1" dirty="0" err="1">
                <a:solidFill>
                  <a:srgbClr val="C00000"/>
                </a:solidFill>
                <a:latin typeface="+mn-lt"/>
              </a:rPr>
              <a:t>Dr.M.Janardan</a:t>
            </a:r>
            <a:endParaRPr lang="en-IN" b="1" dirty="0">
              <a:solidFill>
                <a:srgbClr val="C00000"/>
              </a:solidFill>
              <a:latin typeface="+mn-lt"/>
            </a:endParaRPr>
          </a:p>
          <a:p>
            <a:pPr algn="ctr" defTabSz="685800" fontAlgn="auto">
              <a:lnSpc>
                <a:spcPct val="120000"/>
              </a:lnSpc>
              <a:spcBef>
                <a:spcPts val="0"/>
              </a:spcBef>
              <a:spcAft>
                <a:spcPts val="0"/>
              </a:spcAft>
            </a:pPr>
            <a:r>
              <a:rPr lang="en-IN" sz="1400" b="1" dirty="0" err="1">
                <a:solidFill>
                  <a:srgbClr val="C00000"/>
                </a:solidFill>
                <a:latin typeface="+mn-lt"/>
              </a:rPr>
              <a:t>M.Tech,PhD</a:t>
            </a:r>
            <a:endParaRPr lang="en-US" sz="1400" b="1" dirty="0">
              <a:solidFill>
                <a:srgbClr val="C00000"/>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dirty="0">
              <a:solidFill>
                <a:prstClr val="black"/>
              </a:solidFill>
              <a:latin typeface="Calibri" panose="020F0502020204030204" pitchFamily="34" charset="0"/>
            </a:endParaRPr>
          </a:p>
        </p:txBody>
      </p:sp>
      <p:sp>
        <p:nvSpPr>
          <p:cNvPr id="1048625"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dirty="0">
              <a:solidFill>
                <a:prstClr val="black"/>
              </a:solidFill>
              <a:latin typeface="Calibri" panose="020F0502020204030204" pitchFamily="34" charset="0"/>
            </a:endParaRPr>
          </a:p>
        </p:txBody>
      </p:sp>
      <p:sp>
        <p:nvSpPr>
          <p:cNvPr id="1048626"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dirty="0">
              <a:solidFill>
                <a:prstClr val="black"/>
              </a:solidFill>
              <a:latin typeface="Calibri" panose="020F0502020204030204" pitchFamily="34" charset="0"/>
            </a:endParaRPr>
          </a:p>
        </p:txBody>
      </p:sp>
      <p:sp>
        <p:nvSpPr>
          <p:cNvPr id="1048628" name="Slide Number Placeholder 20"/>
          <p:cNvSpPr>
            <a:spLocks noGrp="1"/>
          </p:cNvSpPr>
          <p:nvPr>
            <p:ph type="sldNum" sz="quarter" idx="12"/>
          </p:nvPr>
        </p:nvSpPr>
        <p:spPr>
          <a:xfrm>
            <a:off x="7010400" y="0"/>
            <a:ext cx="2133600" cy="365125"/>
          </a:xfrm>
        </p:spPr>
        <p:txBody>
          <a:bodyPr/>
          <a:lstStyle/>
          <a:p>
            <a:fld id="{2A2D4643-A560-41CA-9262-83B50CB01BF4}" type="slidenum">
              <a:rPr lang="en-IN" smtClean="0">
                <a:solidFill>
                  <a:prstClr val="black">
                    <a:tint val="75000"/>
                  </a:prstClr>
                </a:solidFill>
              </a:rPr>
              <a:t>2</a:t>
            </a:fld>
            <a:endParaRPr lang="en-IN" dirty="0">
              <a:solidFill>
                <a:prstClr val="black">
                  <a:tint val="75000"/>
                </a:prstClr>
              </a:solidFill>
            </a:endParaRPr>
          </a:p>
        </p:txBody>
      </p:sp>
      <p:sp>
        <p:nvSpPr>
          <p:cNvPr id="1048629" name="Rectangle 18"/>
          <p:cNvSpPr/>
          <p:nvPr/>
        </p:nvSpPr>
        <p:spPr>
          <a:xfrm>
            <a:off x="3810000" y="158086"/>
            <a:ext cx="2452929" cy="523220"/>
          </a:xfrm>
          <a:prstGeom prst="rect">
            <a:avLst/>
          </a:prstGeom>
        </p:spPr>
        <p:txBody>
          <a:bodyPr wrap="square">
            <a:spAutoFit/>
          </a:bodyPr>
          <a:lstStyle/>
          <a:p>
            <a:r>
              <a:rPr lang="en-US" sz="2800" b="1" kern="0" cap="all" dirty="0">
                <a:latin typeface="Arial Black" panose="020B0A04020102020204" pitchFamily="34" charset="0"/>
                <a:cs typeface="Aharoni" pitchFamily="2" charset="-79"/>
              </a:rPr>
              <a:t>CONTENTS</a:t>
            </a:r>
            <a:endParaRPr lang="en-IN" sz="2800" dirty="0"/>
          </a:p>
        </p:txBody>
      </p:sp>
      <p:sp>
        <p:nvSpPr>
          <p:cNvPr id="8" name="TextBox 19"/>
          <p:cNvSpPr txBox="1">
            <a:spLocks noChangeArrowheads="1"/>
          </p:cNvSpPr>
          <p:nvPr/>
        </p:nvSpPr>
        <p:spPr bwMode="auto">
          <a:xfrm>
            <a:off x="685800" y="990600"/>
            <a:ext cx="4191000" cy="5021246"/>
          </a:xfrm>
          <a:prstGeom prst="rect">
            <a:avLst/>
          </a:prstGeom>
          <a:noFill/>
          <a:ln w="9525">
            <a:noFill/>
            <a:miter lim="800000"/>
            <a:headEnd/>
            <a:tailEnd/>
          </a:ln>
        </p:spPr>
        <p:txBody>
          <a:bodyPr wrap="square">
            <a:spAutoFit/>
          </a:bodyPr>
          <a:lstStyle/>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Project Title</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Objectives</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Abstract</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Problem Statement</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Introduction</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Literature Review</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Existing Systems</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Proposed Systems</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Tools for Implementation</a:t>
            </a:r>
          </a:p>
          <a:p>
            <a:pPr marL="342900" indent="-342900" algn="just">
              <a:lnSpc>
                <a:spcPct val="125000"/>
              </a:lnSpc>
              <a:spcAft>
                <a:spcPts val="600"/>
              </a:spcAft>
              <a:buFont typeface="+mj-lt"/>
              <a:buAutoNum type="arabicPeriod"/>
            </a:pPr>
            <a:r>
              <a:rPr lang="en-US" sz="1600" b="1" dirty="0">
                <a:solidFill>
                  <a:srgbClr val="002060"/>
                </a:solidFill>
                <a:cs typeface="Arial" panose="020B0604020202020204" pitchFamily="34" charset="0"/>
              </a:rPr>
              <a:t>Methodology</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Advantages and Applications</a:t>
            </a:r>
          </a:p>
          <a:p>
            <a:pPr marL="342900" indent="-342900" algn="just">
              <a:lnSpc>
                <a:spcPct val="125000"/>
              </a:lnSpc>
              <a:spcAft>
                <a:spcPts val="600"/>
              </a:spcAft>
              <a:buFont typeface="+mj-lt"/>
              <a:buAutoNum type="arabicPeriod"/>
            </a:pPr>
            <a:r>
              <a:rPr lang="en-IN" sz="1600" b="1" dirty="0">
                <a:solidFill>
                  <a:srgbClr val="002060"/>
                </a:solidFill>
                <a:cs typeface="Arial" panose="020B0604020202020204" pitchFamily="34" charset="0"/>
              </a:rPr>
              <a:t>Conclusion</a:t>
            </a:r>
          </a:p>
          <a:p>
            <a:pPr algn="just">
              <a:lnSpc>
                <a:spcPct val="125000"/>
              </a:lnSpc>
              <a:spcAft>
                <a:spcPts val="600"/>
              </a:spcAft>
            </a:pPr>
            <a:endParaRPr lang="en-IN" b="1" dirty="0">
              <a:solidFill>
                <a:srgbClr val="002060"/>
              </a:solidFill>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2225FFB-27E7-41CA-B34D-2BC51E4DD4AA}"/>
              </a:ext>
            </a:extLst>
          </p:cNvPr>
          <p:cNvSpPr>
            <a:spLocks noChangeArrowheads="1"/>
          </p:cNvSpPr>
          <p:nvPr/>
        </p:nvSpPr>
        <p:spPr bwMode="auto">
          <a:xfrm>
            <a:off x="342900" y="2310821"/>
            <a:ext cx="7886700" cy="11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hangingPunct="0">
              <a:lnSpc>
                <a:spcPct val="150000"/>
              </a:lnSpc>
            </a:pPr>
            <a:endParaRPr kumimoji="0" lang="en-US" altLang="en-US" sz="1600" b="0" i="0" u="none" strike="noStrike" cap="none" normalizeH="0" baseline="0" dirty="0">
              <a:ln>
                <a:noFill/>
              </a:ln>
              <a:solidFill>
                <a:schemeClr val="tx1"/>
              </a:solidFill>
              <a:effectLst/>
              <a:latin typeface="+mn-lt"/>
            </a:endParaRPr>
          </a:p>
          <a:p>
            <a:pPr marL="285750" lvl="0" indent="-285750" algn="just" eaLnBrk="0" hangingPunct="0">
              <a:lnSpc>
                <a:spcPct val="150000"/>
              </a:lnSpc>
              <a:buFont typeface="Arial" panose="020B0604020202020204" pitchFamily="34" charset="0"/>
              <a:buChar char="•"/>
            </a:pPr>
            <a:endParaRPr lang="en-US" altLang="en-US" sz="1600" dirty="0">
              <a:latin typeface="+mn-lt"/>
            </a:endParaRPr>
          </a:p>
          <a:p>
            <a:pPr marL="285750" lvl="0" indent="-285750" algn="just" eaLnBrk="0" hangingPunct="0">
              <a:lnSpc>
                <a:spcPct val="150000"/>
              </a:lnSpc>
              <a:buFont typeface="Arial" panose="020B0604020202020204" pitchFamily="34" charset="0"/>
              <a:buChar char="•"/>
            </a:pPr>
            <a:endParaRPr kumimoji="0" lang="en-US" altLang="en-US" sz="1600" b="0" i="0" u="none" strike="noStrike" cap="none" normalizeH="0" baseline="0" dirty="0">
              <a:ln>
                <a:noFill/>
              </a:ln>
              <a:solidFill>
                <a:schemeClr val="tx1"/>
              </a:solidFill>
              <a:effectLst/>
              <a:latin typeface="+mn-lt"/>
            </a:endParaRPr>
          </a:p>
        </p:txBody>
      </p:sp>
      <p:sp>
        <p:nvSpPr>
          <p:cNvPr id="3" name="TextBox 2">
            <a:extLst>
              <a:ext uri="{FF2B5EF4-FFF2-40B4-BE49-F238E27FC236}">
                <a16:creationId xmlns:a16="http://schemas.microsoft.com/office/drawing/2014/main" id="{4E19CE7C-C9F1-ECD6-3C91-74F940D7F4E8}"/>
              </a:ext>
            </a:extLst>
          </p:cNvPr>
          <p:cNvSpPr txBox="1"/>
          <p:nvPr/>
        </p:nvSpPr>
        <p:spPr>
          <a:xfrm>
            <a:off x="4249420" y="152400"/>
            <a:ext cx="4572000" cy="584775"/>
          </a:xfrm>
          <a:prstGeom prst="rect">
            <a:avLst/>
          </a:prstGeom>
          <a:noFill/>
        </p:spPr>
        <p:txBody>
          <a:bodyPr wrap="square">
            <a:spAutoFit/>
          </a:bodyPr>
          <a:lstStyle/>
          <a:p>
            <a:pPr eaLnBrk="0" hangingPunct="0"/>
            <a:r>
              <a:rPr lang="en-US" altLang="en-US" sz="3200" b="1" dirty="0">
                <a:latin typeface="+mj-lt"/>
              </a:rPr>
              <a:t>Objectives</a:t>
            </a:r>
            <a:r>
              <a:rPr kumimoji="0" lang="en-US" altLang="en-US" sz="1800" b="0" i="0" u="none" strike="noStrike" cap="none" normalizeH="0" baseline="0" dirty="0">
                <a:ln>
                  <a:noFill/>
                </a:ln>
                <a:effectLst/>
                <a:latin typeface="+mn-lt"/>
              </a:rPr>
              <a:t> </a:t>
            </a:r>
            <a:endParaRPr kumimoji="0" lang="en-US" altLang="en-US" sz="1600" b="0" i="0" u="none" strike="noStrike" cap="none" normalizeH="0" baseline="0" dirty="0">
              <a:ln>
                <a:noFill/>
              </a:ln>
              <a:solidFill>
                <a:srgbClr val="0000FF"/>
              </a:solidFill>
              <a:effectLst/>
              <a:latin typeface="Arial" panose="020B0604020202020204" pitchFamily="34" charset="0"/>
            </a:endParaRPr>
          </a:p>
        </p:txBody>
      </p:sp>
      <p:sp>
        <p:nvSpPr>
          <p:cNvPr id="2" name="Rectangle 1">
            <a:extLst>
              <a:ext uri="{FF2B5EF4-FFF2-40B4-BE49-F238E27FC236}">
                <a16:creationId xmlns:a16="http://schemas.microsoft.com/office/drawing/2014/main" id="{53BAD882-3BD2-837B-692B-3F11CF7B93AC}"/>
              </a:ext>
            </a:extLst>
          </p:cNvPr>
          <p:cNvSpPr>
            <a:spLocks noChangeArrowheads="1"/>
          </p:cNvSpPr>
          <p:nvPr/>
        </p:nvSpPr>
        <p:spPr bwMode="auto">
          <a:xfrm>
            <a:off x="363116" y="1303738"/>
            <a:ext cx="8343900" cy="4250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mn-lt"/>
                <a:cs typeface="Times New Roman" panose="02020603050405020304" pitchFamily="18" charset="0"/>
              </a:rPr>
              <a:t>To develop a hybrid deep learning model</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that combines CNN (</a:t>
            </a:r>
            <a:r>
              <a:rPr kumimoji="0" lang="en-US" altLang="en-US" b="0" i="0" u="none" strike="noStrike" cap="none" normalizeH="0" baseline="0" dirty="0" err="1">
                <a:ln>
                  <a:noFill/>
                </a:ln>
                <a:solidFill>
                  <a:schemeClr val="tx1"/>
                </a:solidFill>
                <a:effectLst/>
                <a:latin typeface="+mn-lt"/>
                <a:cs typeface="Times New Roman" panose="02020603050405020304" pitchFamily="18" charset="0"/>
              </a:rPr>
              <a:t>EfficientNet</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B0) and Vision Transformer (</a:t>
            </a:r>
            <a:r>
              <a:rPr kumimoji="0" lang="en-US" altLang="en-US" b="0" i="0" u="none" strike="noStrike" cap="none" normalizeH="0" baseline="0" dirty="0" err="1">
                <a:ln>
                  <a:noFill/>
                </a:ln>
                <a:solidFill>
                  <a:schemeClr val="tx1"/>
                </a:solidFill>
                <a:effectLst/>
                <a:latin typeface="+mn-lt"/>
                <a:cs typeface="Times New Roman" panose="02020603050405020304" pitchFamily="18" charset="0"/>
              </a:rPr>
              <a:t>ViT</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for accurate skin cancer classification.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n-lt"/>
                <a:cs typeface="Times New Roman" panose="02020603050405020304" pitchFamily="18" charset="0"/>
              </a:rPr>
              <a:t>  To improve classification performance</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by capturing both local features (textures, edges) and global features (spatial relationships and symmetry) in </a:t>
            </a:r>
            <a:r>
              <a:rPr kumimoji="0" lang="en-US" altLang="en-US" b="0" i="0" u="none" strike="noStrike" cap="none" normalizeH="0" baseline="0" dirty="0" err="1">
                <a:ln>
                  <a:noFill/>
                </a:ln>
                <a:solidFill>
                  <a:schemeClr val="tx1"/>
                </a:solidFill>
                <a:effectLst/>
                <a:latin typeface="+mn-lt"/>
                <a:cs typeface="Times New Roman" panose="02020603050405020304" pitchFamily="18" charset="0"/>
              </a:rPr>
              <a:t>dermoscopic</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images.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n-lt"/>
                <a:cs typeface="Times New Roman" panose="02020603050405020304" pitchFamily="18" charset="0"/>
              </a:rPr>
              <a:t>  To perform multi-class classification</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of seven types of skin lesions using the HAM10000 dataset.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n-lt"/>
                <a:cs typeface="Times New Roman" panose="02020603050405020304" pitchFamily="18" charset="0"/>
              </a:rPr>
              <a:t>  To enhance diagnostic accuracy</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and achieve better performance metrics such as accuracy, precision, recall, and F1-score.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n-lt"/>
                <a:cs typeface="Times New Roman" panose="02020603050405020304" pitchFamily="18" charset="0"/>
              </a:rPr>
              <a:t>  To reduce misclassification between benign and malignant cases</a:t>
            </a:r>
            <a:r>
              <a:rPr kumimoji="0" lang="en-US" altLang="en-US" b="0" i="0" u="none" strike="noStrike" cap="none" normalizeH="0" baseline="0" dirty="0">
                <a:ln>
                  <a:noFill/>
                </a:ln>
                <a:solidFill>
                  <a:schemeClr val="tx1"/>
                </a:solidFill>
                <a:effectLst/>
                <a:latin typeface="+mn-lt"/>
                <a:cs typeface="Times New Roman" panose="02020603050405020304" pitchFamily="18" charset="0"/>
              </a:rPr>
              <a:t> by leveraging attention mechanisms. </a:t>
            </a:r>
          </a:p>
        </p:txBody>
      </p:sp>
    </p:spTree>
    <p:extLst>
      <p:ext uri="{BB962C8B-B14F-4D97-AF65-F5344CB8AC3E}">
        <p14:creationId xmlns:p14="http://schemas.microsoft.com/office/powerpoint/2010/main" val="310708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ACD74-664B-4D7C-8D51-350B77413210}"/>
              </a:ext>
            </a:extLst>
          </p:cNvPr>
          <p:cNvSpPr>
            <a:spLocks noGrp="1"/>
          </p:cNvSpPr>
          <p:nvPr>
            <p:ph idx="1"/>
          </p:nvPr>
        </p:nvSpPr>
        <p:spPr>
          <a:xfrm>
            <a:off x="342900" y="1295400"/>
            <a:ext cx="8458200" cy="5105400"/>
          </a:xfrm>
        </p:spPr>
        <p:txBody>
          <a:bodyPr/>
          <a:lstStyle/>
          <a:p>
            <a:pPr marL="0" indent="0" algn="just">
              <a:lnSpc>
                <a:spcPct val="150000"/>
              </a:lnSpc>
              <a:buNone/>
            </a:pPr>
            <a:r>
              <a:rPr lang="en-US" altLang="en-US" sz="2000" dirty="0"/>
              <a:t> </a:t>
            </a:r>
            <a:r>
              <a:rPr lang="en-IN" sz="1600" dirty="0"/>
              <a:t>With the rise in skin cancer incidence, there is a growing need for improved diagnostic methods that allow physicians to identify skin cancers during routine examinations. While traditional convolutional neural networks (CNNs)—the backbone of image detection today— are good at detecting local characteristics (texture and edges), traditional CNNs do not provide information about the overall structure or spatial symmetry of an object. We present a new hybrid deep learning model for seven-class classification of skin cancer derived from the HAM10000 dataset to address this limitation. The proposed architecture integrates a CNN-B0 model with the Vision Transformer (</a:t>
            </a:r>
            <a:r>
              <a:rPr lang="en-IN" sz="1600" dirty="0" err="1"/>
              <a:t>ViT</a:t>
            </a:r>
            <a:r>
              <a:rPr lang="en-IN" sz="1600" dirty="0"/>
              <a:t>), which enables the ability to represent global relationships within the input data. The model also uses a 1x1 convolutional layer to convert local characteristics into a latent variable, and then integrates that latent variable with the ability of the Transformer to model the context of the input. The combination of these two architectures produces a greater degree of accuracy 87.32.</a:t>
            </a:r>
            <a:endParaRPr lang="en-US" sz="1600" dirty="0"/>
          </a:p>
        </p:txBody>
      </p:sp>
      <p:sp>
        <p:nvSpPr>
          <p:cNvPr id="4" name="TextBox 3">
            <a:extLst>
              <a:ext uri="{FF2B5EF4-FFF2-40B4-BE49-F238E27FC236}">
                <a16:creationId xmlns:a16="http://schemas.microsoft.com/office/drawing/2014/main" id="{3379475B-DE59-A66F-905C-126033274D19}"/>
              </a:ext>
            </a:extLst>
          </p:cNvPr>
          <p:cNvSpPr txBox="1"/>
          <p:nvPr/>
        </p:nvSpPr>
        <p:spPr>
          <a:xfrm>
            <a:off x="4419600" y="76200"/>
            <a:ext cx="4572000" cy="584775"/>
          </a:xfrm>
          <a:prstGeom prst="rect">
            <a:avLst/>
          </a:prstGeom>
          <a:noFill/>
        </p:spPr>
        <p:txBody>
          <a:bodyPr wrap="square">
            <a:spAutoFit/>
          </a:bodyPr>
          <a:lstStyle/>
          <a:p>
            <a:pPr marL="0" indent="0">
              <a:buNone/>
            </a:pPr>
            <a:r>
              <a:rPr lang="en-IN" sz="3200" b="1" dirty="0">
                <a:latin typeface="+mj-lt"/>
                <a:cs typeface="Arial" panose="020B0604020202020204" pitchFamily="34" charset="0"/>
              </a:rPr>
              <a:t>Abstract</a:t>
            </a:r>
          </a:p>
        </p:txBody>
      </p:sp>
    </p:spTree>
    <p:extLst>
      <p:ext uri="{BB962C8B-B14F-4D97-AF65-F5344CB8AC3E}">
        <p14:creationId xmlns:p14="http://schemas.microsoft.com/office/powerpoint/2010/main" val="3973932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CDA5FE-E276-BCE8-2176-8F4505734E99}"/>
              </a:ext>
            </a:extLst>
          </p:cNvPr>
          <p:cNvSpPr txBox="1"/>
          <p:nvPr/>
        </p:nvSpPr>
        <p:spPr>
          <a:xfrm>
            <a:off x="3657600" y="152400"/>
            <a:ext cx="4572000" cy="584775"/>
          </a:xfrm>
          <a:prstGeom prst="rect">
            <a:avLst/>
          </a:prstGeom>
          <a:noFill/>
        </p:spPr>
        <p:txBody>
          <a:bodyPr wrap="square">
            <a:spAutoFit/>
          </a:bodyPr>
          <a:lstStyle/>
          <a:p>
            <a:pPr marL="0" indent="0">
              <a:buNone/>
            </a:pPr>
            <a:r>
              <a:rPr lang="en-IN" sz="3200" b="1" dirty="0">
                <a:latin typeface="+mj-lt"/>
                <a:cs typeface="Arial" panose="020B0604020202020204" pitchFamily="34" charset="0"/>
              </a:rPr>
              <a:t>Problem Statement</a:t>
            </a:r>
          </a:p>
        </p:txBody>
      </p:sp>
      <p:sp>
        <p:nvSpPr>
          <p:cNvPr id="2" name="Content Placeholder 1">
            <a:extLst>
              <a:ext uri="{FF2B5EF4-FFF2-40B4-BE49-F238E27FC236}">
                <a16:creationId xmlns:a16="http://schemas.microsoft.com/office/drawing/2014/main" id="{BBB4AC77-A1B9-D6D3-2093-C4B7DB264155}"/>
              </a:ext>
            </a:extLst>
          </p:cNvPr>
          <p:cNvSpPr>
            <a:spLocks noGrp="1" noChangeArrowheads="1"/>
          </p:cNvSpPr>
          <p:nvPr>
            <p:ph idx="1"/>
          </p:nvPr>
        </p:nvSpPr>
        <p:spPr bwMode="auto">
          <a:xfrm>
            <a:off x="228600" y="1447800"/>
            <a:ext cx="8534400" cy="437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t>Rapid increase in skin cancer cases demands </a:t>
            </a:r>
            <a:r>
              <a:rPr lang="en-US" sz="1800" b="1" dirty="0"/>
              <a:t>early, accurate, and automated detection systems</a:t>
            </a:r>
            <a:r>
              <a:rPr lang="en-US" sz="1800" dirty="0"/>
              <a:t>. </a:t>
            </a:r>
          </a:p>
          <a:p>
            <a:pPr algn="just"/>
            <a:r>
              <a:rPr lang="en-US" sz="1800" dirty="0"/>
              <a:t>Traditional diagnosis by dermatologists is </a:t>
            </a:r>
            <a:r>
              <a:rPr lang="en-US" sz="1800" b="1" dirty="0"/>
              <a:t>time-consuming, subjective, and dependent on expertise</a:t>
            </a:r>
            <a:r>
              <a:rPr lang="en-US" sz="1800" dirty="0"/>
              <a:t>, leading to possible inconsistencies. </a:t>
            </a:r>
          </a:p>
          <a:p>
            <a:pPr algn="just"/>
            <a:r>
              <a:rPr lang="en-US" sz="1800" dirty="0"/>
              <a:t>Skin lesion images exhibit </a:t>
            </a:r>
            <a:r>
              <a:rPr lang="en-US" sz="1800" b="1" dirty="0"/>
              <a:t>high variability in color, size, shape, and texture</a:t>
            </a:r>
            <a:r>
              <a:rPr lang="en-US" sz="1800" dirty="0"/>
              <a:t>, making classification challenging. </a:t>
            </a:r>
          </a:p>
          <a:p>
            <a:pPr algn="just"/>
            <a:r>
              <a:rPr lang="en-US" sz="1800" dirty="0"/>
              <a:t>Conventional CNN-based models are limited to </a:t>
            </a:r>
            <a:r>
              <a:rPr lang="en-US" sz="1800" b="1" dirty="0"/>
              <a:t>local feature extraction (edges, textures)</a:t>
            </a:r>
            <a:r>
              <a:rPr lang="en-US" sz="1800" dirty="0"/>
              <a:t> and fail to capture </a:t>
            </a:r>
            <a:r>
              <a:rPr lang="en-US" sz="1800" b="1" dirty="0"/>
              <a:t>global structural information</a:t>
            </a:r>
            <a:r>
              <a:rPr lang="en-US" sz="1800" dirty="0"/>
              <a:t>. </a:t>
            </a:r>
          </a:p>
          <a:p>
            <a:pPr algn="just"/>
            <a:r>
              <a:rPr lang="en-US" sz="1800" dirty="0"/>
              <a:t>This limitation leads to </a:t>
            </a:r>
            <a:r>
              <a:rPr lang="en-US" sz="1800" b="1" dirty="0"/>
              <a:t>misclassification, especially between visually similar classes</a:t>
            </a:r>
            <a:r>
              <a:rPr lang="en-US" sz="1800" dirty="0"/>
              <a:t> such as benign and malignant lesions in multi-class datasets like HAM10000. </a:t>
            </a:r>
          </a:p>
          <a:p>
            <a:pPr algn="just"/>
            <a:r>
              <a:rPr lang="en-US" sz="1800" dirty="0"/>
              <a:t>Hence, there is a need for a </a:t>
            </a:r>
            <a:r>
              <a:rPr lang="en-US" sz="1800" b="1" dirty="0"/>
              <a:t>robust hybrid model integrating CNN and Vision Transformer</a:t>
            </a:r>
            <a:r>
              <a:rPr lang="en-US" sz="1800" dirty="0"/>
              <a:t> to capture both local and global features, improving diagnostic accuracy and reliability.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638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E7EB4E-877D-ED76-83FF-2715E262C226}"/>
              </a:ext>
            </a:extLst>
          </p:cNvPr>
          <p:cNvSpPr txBox="1"/>
          <p:nvPr/>
        </p:nvSpPr>
        <p:spPr>
          <a:xfrm>
            <a:off x="4191000" y="152400"/>
            <a:ext cx="4572000" cy="584775"/>
          </a:xfrm>
          <a:prstGeom prst="rect">
            <a:avLst/>
          </a:prstGeom>
          <a:noFill/>
        </p:spPr>
        <p:txBody>
          <a:bodyPr wrap="square">
            <a:spAutoFit/>
          </a:bodyPr>
          <a:lstStyle/>
          <a:p>
            <a:pPr marL="0" indent="0">
              <a:buNone/>
            </a:pPr>
            <a:r>
              <a:rPr lang="en-IN" sz="3200" b="1" dirty="0">
                <a:latin typeface="+mj-lt"/>
                <a:cs typeface="Arial" panose="020B0604020202020204" pitchFamily="34" charset="0"/>
              </a:rPr>
              <a:t>Introduction</a:t>
            </a:r>
            <a:endParaRPr lang="en-US" sz="3200" dirty="0">
              <a:latin typeface="+mj-lt"/>
            </a:endParaRPr>
          </a:p>
        </p:txBody>
      </p:sp>
      <p:sp>
        <p:nvSpPr>
          <p:cNvPr id="2" name="Content Placeholder 1">
            <a:extLst>
              <a:ext uri="{FF2B5EF4-FFF2-40B4-BE49-F238E27FC236}">
                <a16:creationId xmlns:a16="http://schemas.microsoft.com/office/drawing/2014/main" id="{45840D3D-8DDD-A88A-20E9-708FB1432A4C}"/>
              </a:ext>
            </a:extLst>
          </p:cNvPr>
          <p:cNvSpPr>
            <a:spLocks noGrp="1" noChangeArrowheads="1"/>
          </p:cNvSpPr>
          <p:nvPr>
            <p:ph idx="1"/>
          </p:nvPr>
        </p:nvSpPr>
        <p:spPr bwMode="auto">
          <a:xfrm>
            <a:off x="431541" y="1119073"/>
            <a:ext cx="8280918" cy="461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Skin cancer is a rapidly increasing health issue, where </a:t>
            </a:r>
            <a:r>
              <a:rPr kumimoji="0" lang="en-US" altLang="en-US" sz="1800" b="1" i="0" u="none" strike="noStrike" cap="none" normalizeH="0" baseline="0" dirty="0">
                <a:ln>
                  <a:noFill/>
                </a:ln>
                <a:solidFill>
                  <a:schemeClr val="tx1"/>
                </a:solidFill>
                <a:effectLst/>
              </a:rPr>
              <a:t>early and accurate detection is essential</a:t>
            </a:r>
            <a:r>
              <a:rPr kumimoji="0" lang="en-US" altLang="en-US" sz="1800" b="0" i="0" u="none" strike="noStrike" cap="none" normalizeH="0" baseline="0" dirty="0">
                <a:ln>
                  <a:noFill/>
                </a:ln>
                <a:solidFill>
                  <a:schemeClr val="tx1"/>
                </a:solidFill>
                <a:effectLst/>
              </a:rPr>
              <a:t> for effective treatment.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Diagnosis is challenging due to </a:t>
            </a:r>
            <a:r>
              <a:rPr kumimoji="0" lang="en-US" altLang="en-US" sz="1800" b="1" i="0" u="none" strike="noStrike" cap="none" normalizeH="0" baseline="0" dirty="0">
                <a:ln>
                  <a:noFill/>
                </a:ln>
                <a:solidFill>
                  <a:schemeClr val="tx1"/>
                </a:solidFill>
                <a:effectLst/>
              </a:rPr>
              <a:t>high variability in skin lesions</a:t>
            </a:r>
            <a:r>
              <a:rPr kumimoji="0" lang="en-US" altLang="en-US" sz="1800" b="0" i="0" u="none" strike="noStrike" cap="none" normalizeH="0" baseline="0" dirty="0">
                <a:ln>
                  <a:noFill/>
                </a:ln>
                <a:solidFill>
                  <a:schemeClr val="tx1"/>
                </a:solidFill>
                <a:effectLst/>
              </a:rPr>
              <a:t> (color, shape, size, and texture). </a:t>
            </a: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CNNs</a:t>
            </a:r>
            <a:r>
              <a:rPr kumimoji="0" lang="en-US" altLang="en-US" sz="1800" b="0" i="0" u="none" strike="noStrike" cap="none" normalizeH="0" baseline="0" dirty="0">
                <a:ln>
                  <a:noFill/>
                </a:ln>
                <a:solidFill>
                  <a:schemeClr val="tx1"/>
                </a:solidFill>
                <a:effectLst/>
              </a:rPr>
              <a:t> are effective in extracting </a:t>
            </a:r>
            <a:r>
              <a:rPr kumimoji="0" lang="en-US" altLang="en-US" sz="1800" b="1" i="0" u="none" strike="noStrike" cap="none" normalizeH="0" baseline="0" dirty="0">
                <a:ln>
                  <a:noFill/>
                </a:ln>
                <a:solidFill>
                  <a:schemeClr val="tx1"/>
                </a:solidFill>
                <a:effectLst/>
              </a:rPr>
              <a:t>local features</a:t>
            </a:r>
            <a:r>
              <a:rPr kumimoji="0" lang="en-US" altLang="en-US" sz="1800" b="0" i="0" u="none" strike="noStrike" cap="none" normalizeH="0" baseline="0" dirty="0">
                <a:ln>
                  <a:noFill/>
                </a:ln>
                <a:solidFill>
                  <a:schemeClr val="tx1"/>
                </a:solidFill>
                <a:effectLst/>
              </a:rPr>
              <a:t>, but they fail to capture </a:t>
            </a:r>
            <a:r>
              <a:rPr kumimoji="0" lang="en-US" altLang="en-US" sz="1800" b="1" i="0" u="none" strike="noStrike" cap="none" normalizeH="0" baseline="0" dirty="0">
                <a:ln>
                  <a:noFill/>
                </a:ln>
                <a:solidFill>
                  <a:schemeClr val="tx1"/>
                </a:solidFill>
                <a:effectLst/>
              </a:rPr>
              <a:t>global contextual information</a:t>
            </a:r>
            <a:r>
              <a:rPr kumimoji="0" lang="en-US" altLang="en-US" sz="1800" b="0" i="0" u="none" strike="noStrike" cap="none" normalizeH="0" baseline="0" dirty="0">
                <a:ln>
                  <a:noFill/>
                </a:ln>
                <a:solidFill>
                  <a:schemeClr val="tx1"/>
                </a:solidFill>
                <a:effectLst/>
              </a:rPr>
              <a:t>. </a:t>
            </a: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Vision Transformers (</a:t>
            </a:r>
            <a:r>
              <a:rPr kumimoji="0" lang="en-US" altLang="en-US" sz="1800" b="1" i="0" u="none" strike="noStrike" cap="none" normalizeH="0" baseline="0" dirty="0" err="1">
                <a:ln>
                  <a:noFill/>
                </a:ln>
                <a:solidFill>
                  <a:schemeClr val="tx1"/>
                </a:solidFill>
                <a:effectLst/>
              </a:rPr>
              <a:t>ViTs</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rPr>
              <a:t> can analyze the </a:t>
            </a:r>
            <a:r>
              <a:rPr kumimoji="0" lang="en-US" altLang="en-US" sz="1800" b="1" i="0" u="none" strike="noStrike" cap="none" normalizeH="0" baseline="0" dirty="0">
                <a:ln>
                  <a:noFill/>
                </a:ln>
                <a:solidFill>
                  <a:schemeClr val="tx1"/>
                </a:solidFill>
                <a:effectLst/>
              </a:rPr>
              <a:t>entire image context</a:t>
            </a:r>
            <a:r>
              <a:rPr kumimoji="0" lang="en-US" altLang="en-US" sz="1800" b="0" i="0" u="none" strike="noStrike" cap="none" normalizeH="0" baseline="0" dirty="0">
                <a:ln>
                  <a:noFill/>
                </a:ln>
                <a:solidFill>
                  <a:schemeClr val="tx1"/>
                </a:solidFill>
                <a:effectLst/>
              </a:rPr>
              <a:t>, capturing long-range dependencies and improving classification.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This project proposes a </a:t>
            </a:r>
            <a:r>
              <a:rPr kumimoji="0" lang="en-US" altLang="en-US" sz="1800" b="1" i="0" u="none" strike="noStrike" cap="none" normalizeH="0" baseline="0" dirty="0">
                <a:ln>
                  <a:noFill/>
                </a:ln>
                <a:solidFill>
                  <a:schemeClr val="tx1"/>
                </a:solidFill>
                <a:effectLst/>
              </a:rPr>
              <a:t>hybrid EfficientNet-B0 + </a:t>
            </a:r>
            <a:r>
              <a:rPr kumimoji="0" lang="en-US" altLang="en-US" sz="1800" b="1" i="0" u="none" strike="noStrike" cap="none" normalizeH="0" baseline="0" dirty="0" err="1">
                <a:ln>
                  <a:noFill/>
                </a:ln>
                <a:solidFill>
                  <a:schemeClr val="tx1"/>
                </a:solidFill>
                <a:effectLst/>
              </a:rPr>
              <a:t>ViT</a:t>
            </a:r>
            <a:r>
              <a:rPr kumimoji="0" lang="en-US" altLang="en-US" sz="1800" b="1" i="0" u="none" strike="noStrike" cap="none" normalizeH="0" baseline="0" dirty="0">
                <a:ln>
                  <a:noFill/>
                </a:ln>
                <a:solidFill>
                  <a:schemeClr val="tx1"/>
                </a:solidFill>
                <a:effectLst/>
              </a:rPr>
              <a:t> model</a:t>
            </a:r>
            <a:r>
              <a:rPr kumimoji="0" lang="en-US" altLang="en-US" sz="1800" b="0" i="0" u="none" strike="noStrike" cap="none" normalizeH="0" baseline="0" dirty="0">
                <a:ln>
                  <a:noFill/>
                </a:ln>
                <a:solidFill>
                  <a:schemeClr val="tx1"/>
                </a:solidFill>
                <a:effectLst/>
              </a:rPr>
              <a:t> using the HAM10000 dataset to enhance </a:t>
            </a:r>
            <a:r>
              <a:rPr kumimoji="0" lang="en-US" altLang="en-US" sz="1800" b="1" i="0" u="none" strike="noStrike" cap="none" normalizeH="0" baseline="0" dirty="0">
                <a:ln>
                  <a:noFill/>
                </a:ln>
                <a:solidFill>
                  <a:schemeClr val="tx1"/>
                </a:solidFill>
                <a:effectLst/>
              </a:rPr>
              <a:t>multi-class skin cancer classification accuracy</a:t>
            </a:r>
            <a:r>
              <a:rPr kumimoji="0" lang="en-US" altLang="en-US" sz="18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1813550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8F196-7CD9-47B8-B789-3A092E97B412}"/>
              </a:ext>
            </a:extLst>
          </p:cNvPr>
          <p:cNvSpPr>
            <a:spLocks noGrp="1"/>
          </p:cNvSpPr>
          <p:nvPr>
            <p:ph idx="1"/>
          </p:nvPr>
        </p:nvSpPr>
        <p:spPr>
          <a:xfrm>
            <a:off x="3581400" y="76200"/>
            <a:ext cx="3581400" cy="609599"/>
          </a:xfrm>
        </p:spPr>
        <p:txBody>
          <a:bodyPr/>
          <a:lstStyle/>
          <a:p>
            <a:pPr marL="0" indent="0">
              <a:buNone/>
            </a:pPr>
            <a:r>
              <a:rPr lang="en-US" b="1" dirty="0">
                <a:latin typeface="+mj-lt"/>
                <a:cs typeface="Arial" panose="020B0604020202020204" pitchFamily="34" charset="0"/>
              </a:rPr>
              <a:t>Literature Review</a:t>
            </a:r>
          </a:p>
          <a:p>
            <a:pPr marL="0" indent="0">
              <a:buNone/>
            </a:pPr>
            <a:endParaRPr lang="en-IN" b="1" dirty="0">
              <a:solidFill>
                <a:srgbClr val="002060"/>
              </a:solidFill>
              <a:cs typeface="Arial" panose="020B0604020202020204" pitchFamily="34" charset="0"/>
            </a:endParaRPr>
          </a:p>
          <a:p>
            <a:pPr marL="0" indent="0">
              <a:buNone/>
            </a:pPr>
            <a:endParaRPr lang="en-IN" dirty="0"/>
          </a:p>
        </p:txBody>
      </p:sp>
      <p:sp>
        <p:nvSpPr>
          <p:cNvPr id="5" name="Rectangle 2">
            <a:extLst>
              <a:ext uri="{FF2B5EF4-FFF2-40B4-BE49-F238E27FC236}">
                <a16:creationId xmlns:a16="http://schemas.microsoft.com/office/drawing/2014/main" id="{9BE719CC-E0BA-454D-B834-500558D7EF0E}"/>
              </a:ext>
            </a:extLst>
          </p:cNvPr>
          <p:cNvSpPr>
            <a:spLocks noChangeArrowheads="1"/>
          </p:cNvSpPr>
          <p:nvPr/>
        </p:nvSpPr>
        <p:spPr bwMode="auto">
          <a:xfrm>
            <a:off x="381000" y="3039096"/>
            <a:ext cx="8596604"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hangingPunct="0">
              <a:lnSpc>
                <a:spcPct val="150000"/>
              </a:lnSpc>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8752295-B1DA-D41C-4B63-345253EB3431}"/>
              </a:ext>
            </a:extLst>
          </p:cNvPr>
          <p:cNvSpPr>
            <a:spLocks noChangeArrowheads="1"/>
          </p:cNvSpPr>
          <p:nvPr/>
        </p:nvSpPr>
        <p:spPr bwMode="auto">
          <a:xfrm>
            <a:off x="487524" y="1282204"/>
            <a:ext cx="816895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Skin cancer detection is challenging due to </a:t>
            </a:r>
            <a:r>
              <a:rPr kumimoji="0" lang="en-US" altLang="en-US" sz="1800" b="1" i="0" u="none" strike="noStrike" cap="none" normalizeH="0" baseline="0" dirty="0">
                <a:ln>
                  <a:noFill/>
                </a:ln>
                <a:solidFill>
                  <a:schemeClr val="tx1"/>
                </a:solidFill>
                <a:effectLst/>
                <a:latin typeface="+mn-lt"/>
              </a:rPr>
              <a:t>high variation in lesion appearance</a:t>
            </a:r>
            <a:r>
              <a:rPr kumimoji="0" lang="en-US" altLang="en-US" sz="1800" b="0" i="0" u="none" strike="noStrike" cap="none" normalizeH="0" baseline="0" dirty="0">
                <a:ln>
                  <a:noFill/>
                </a:ln>
                <a:solidFill>
                  <a:schemeClr val="tx1"/>
                </a:solidFill>
                <a:effectLst/>
                <a:latin typeface="+mn-lt"/>
              </a:rPr>
              <a:t>, making early and accurate diagnosis difficult.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Traditional methods rely on </a:t>
            </a:r>
            <a:r>
              <a:rPr kumimoji="0" lang="en-US" altLang="en-US" sz="1800" b="1" i="0" u="none" strike="noStrike" cap="none" normalizeH="0" baseline="0" dirty="0">
                <a:ln>
                  <a:noFill/>
                </a:ln>
                <a:solidFill>
                  <a:schemeClr val="tx1"/>
                </a:solidFill>
                <a:effectLst/>
                <a:latin typeface="+mn-lt"/>
              </a:rPr>
              <a:t>manual examination by dermatologists</a:t>
            </a:r>
            <a:r>
              <a:rPr kumimoji="0" lang="en-US" altLang="en-US" sz="1800" b="0" i="0" u="none" strike="noStrike" cap="none" normalizeH="0" baseline="0" dirty="0">
                <a:ln>
                  <a:noFill/>
                </a:ln>
                <a:solidFill>
                  <a:schemeClr val="tx1"/>
                </a:solidFill>
                <a:effectLst/>
                <a:latin typeface="+mn-lt"/>
              </a:rPr>
              <a:t>, which can be time-consuming and subjective.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CNN-based models</a:t>
            </a:r>
            <a:r>
              <a:rPr kumimoji="0" lang="en-US" altLang="en-US" sz="1800" b="0" i="0" u="none" strike="noStrike" cap="none" normalizeH="0" baseline="0" dirty="0">
                <a:ln>
                  <a:noFill/>
                </a:ln>
                <a:solidFill>
                  <a:schemeClr val="tx1"/>
                </a:solidFill>
                <a:effectLst/>
                <a:latin typeface="+mn-lt"/>
              </a:rPr>
              <a:t> (e.g., </a:t>
            </a:r>
            <a:r>
              <a:rPr kumimoji="0" lang="en-US" altLang="en-US" sz="1800" b="0" i="0" u="none" strike="noStrike" cap="none" normalizeH="0" baseline="0" dirty="0" err="1">
                <a:ln>
                  <a:noFill/>
                </a:ln>
                <a:solidFill>
                  <a:schemeClr val="tx1"/>
                </a:solidFill>
                <a:effectLst/>
                <a:latin typeface="+mn-lt"/>
              </a:rPr>
              <a:t>ResNet</a:t>
            </a:r>
            <a:r>
              <a:rPr kumimoji="0" lang="en-US" altLang="en-US" sz="1800" b="0" i="0" u="none" strike="noStrike" cap="none" normalizeH="0" baseline="0" dirty="0">
                <a:ln>
                  <a:noFill/>
                </a:ln>
                <a:solidFill>
                  <a:schemeClr val="tx1"/>
                </a:solidFill>
                <a:effectLst/>
                <a:latin typeface="+mn-lt"/>
              </a:rPr>
              <a:t>, VGG) have been widely used and perform well in extracting </a:t>
            </a:r>
            <a:r>
              <a:rPr kumimoji="0" lang="en-US" altLang="en-US" sz="1800" b="1" i="0" u="none" strike="noStrike" cap="none" normalizeH="0" baseline="0" dirty="0">
                <a:ln>
                  <a:noFill/>
                </a:ln>
                <a:solidFill>
                  <a:schemeClr val="tx1"/>
                </a:solidFill>
                <a:effectLst/>
                <a:latin typeface="+mn-lt"/>
              </a:rPr>
              <a:t>local features</a:t>
            </a:r>
            <a:r>
              <a:rPr kumimoji="0" lang="en-US" altLang="en-US" sz="1800" b="0" i="0" u="none" strike="noStrike" cap="none" normalizeH="0" baseline="0" dirty="0">
                <a:ln>
                  <a:noFill/>
                </a:ln>
                <a:solidFill>
                  <a:schemeClr val="tx1"/>
                </a:solidFill>
                <a:effectLst/>
                <a:latin typeface="+mn-lt"/>
              </a:rPr>
              <a:t> like edges and textures.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However, CNNs have limitations in capturing </a:t>
            </a:r>
            <a:r>
              <a:rPr kumimoji="0" lang="en-US" altLang="en-US" sz="1800" b="1" i="0" u="none" strike="noStrike" cap="none" normalizeH="0" baseline="0" dirty="0">
                <a:ln>
                  <a:noFill/>
                </a:ln>
                <a:solidFill>
                  <a:schemeClr val="tx1"/>
                </a:solidFill>
                <a:effectLst/>
                <a:latin typeface="+mn-lt"/>
              </a:rPr>
              <a:t>global context and spatial relationships</a:t>
            </a:r>
            <a:r>
              <a:rPr kumimoji="0" lang="en-US" altLang="en-US" sz="1800" b="0" i="0" u="none" strike="noStrike" cap="none" normalizeH="0" baseline="0" dirty="0">
                <a:ln>
                  <a:noFill/>
                </a:ln>
                <a:solidFill>
                  <a:schemeClr val="tx1"/>
                </a:solidFill>
                <a:effectLst/>
                <a:latin typeface="+mn-lt"/>
              </a:rPr>
              <a:t>, affecting classification accuracy.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Vision Transformers (</a:t>
            </a:r>
            <a:r>
              <a:rPr kumimoji="0" lang="en-US" altLang="en-US" sz="1800" b="1" i="0" u="none" strike="noStrike" cap="none" normalizeH="0" baseline="0" dirty="0" err="1">
                <a:ln>
                  <a:noFill/>
                </a:ln>
                <a:solidFill>
                  <a:schemeClr val="tx1"/>
                </a:solidFill>
                <a:effectLst/>
                <a:latin typeface="+mn-lt"/>
              </a:rPr>
              <a:t>ViTs</a:t>
            </a:r>
            <a:r>
              <a:rPr kumimoji="0" lang="en-US" altLang="en-US" sz="1800" b="1" i="0" u="none" strike="noStrike" cap="none" normalizeH="0" baseline="0" dirty="0">
                <a:ln>
                  <a:noFill/>
                </a:ln>
                <a:solidFill>
                  <a:schemeClr val="tx1"/>
                </a:solidFill>
                <a:effectLst/>
                <a:latin typeface="+mn-lt"/>
              </a:rPr>
              <a:t>)</a:t>
            </a:r>
            <a:r>
              <a:rPr kumimoji="0" lang="en-US" altLang="en-US" sz="1800" b="0" i="0" u="none" strike="noStrike" cap="none" normalizeH="0" baseline="0" dirty="0">
                <a:ln>
                  <a:noFill/>
                </a:ln>
                <a:solidFill>
                  <a:schemeClr val="tx1"/>
                </a:solidFill>
                <a:effectLst/>
                <a:latin typeface="+mn-lt"/>
              </a:rPr>
              <a:t> use attention mechanisms to capture </a:t>
            </a:r>
            <a:r>
              <a:rPr kumimoji="0" lang="en-US" altLang="en-US" sz="1800" b="1" i="0" u="none" strike="noStrike" cap="none" normalizeH="0" baseline="0" dirty="0">
                <a:ln>
                  <a:noFill/>
                </a:ln>
                <a:solidFill>
                  <a:schemeClr val="tx1"/>
                </a:solidFill>
                <a:effectLst/>
                <a:latin typeface="+mn-lt"/>
              </a:rPr>
              <a:t>global dependencies</a:t>
            </a:r>
            <a:r>
              <a:rPr kumimoji="0" lang="en-US" altLang="en-US" sz="1800" b="0" i="0" u="none" strike="noStrike" cap="none" normalizeH="0" baseline="0" dirty="0">
                <a:ln>
                  <a:noFill/>
                </a:ln>
                <a:solidFill>
                  <a:schemeClr val="tx1"/>
                </a:solidFill>
                <a:effectLst/>
                <a:latin typeface="+mn-lt"/>
              </a:rPr>
              <a:t> and improve performance in image classification tasks.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Recent studies focus on </a:t>
            </a:r>
            <a:r>
              <a:rPr kumimoji="0" lang="en-US" altLang="en-US" sz="1800" b="1" i="0" u="none" strike="noStrike" cap="none" normalizeH="0" baseline="0" dirty="0">
                <a:ln>
                  <a:noFill/>
                </a:ln>
                <a:solidFill>
                  <a:schemeClr val="tx1"/>
                </a:solidFill>
                <a:effectLst/>
                <a:latin typeface="+mn-lt"/>
              </a:rPr>
              <a:t>hybrid CNN + </a:t>
            </a:r>
            <a:r>
              <a:rPr kumimoji="0" lang="en-US" altLang="en-US" sz="1800" b="1" i="0" u="none" strike="noStrike" cap="none" normalizeH="0" baseline="0" dirty="0" err="1">
                <a:ln>
                  <a:noFill/>
                </a:ln>
                <a:solidFill>
                  <a:schemeClr val="tx1"/>
                </a:solidFill>
                <a:effectLst/>
                <a:latin typeface="+mn-lt"/>
              </a:rPr>
              <a:t>ViT</a:t>
            </a:r>
            <a:r>
              <a:rPr kumimoji="0" lang="en-US" altLang="en-US" sz="1800" b="1" i="0" u="none" strike="noStrike" cap="none" normalizeH="0" baseline="0" dirty="0">
                <a:ln>
                  <a:noFill/>
                </a:ln>
                <a:solidFill>
                  <a:schemeClr val="tx1"/>
                </a:solidFill>
                <a:effectLst/>
                <a:latin typeface="+mn-lt"/>
              </a:rPr>
              <a:t> models</a:t>
            </a:r>
            <a:r>
              <a:rPr kumimoji="0" lang="en-US" altLang="en-US" sz="1800" b="0" i="0" u="none" strike="noStrike" cap="none" normalizeH="0" baseline="0" dirty="0">
                <a:ln>
                  <a:noFill/>
                </a:ln>
                <a:solidFill>
                  <a:schemeClr val="tx1"/>
                </a:solidFill>
                <a:effectLst/>
                <a:latin typeface="+mn-lt"/>
              </a:rPr>
              <a:t>, which combine local and global feature extraction, resulting in </a:t>
            </a:r>
            <a:r>
              <a:rPr kumimoji="0" lang="en-US" altLang="en-US" sz="1800" b="1" i="0" u="none" strike="noStrike" cap="none" normalizeH="0" baseline="0" dirty="0">
                <a:ln>
                  <a:noFill/>
                </a:ln>
                <a:solidFill>
                  <a:schemeClr val="tx1"/>
                </a:solidFill>
                <a:effectLst/>
                <a:latin typeface="+mn-lt"/>
              </a:rPr>
              <a:t>higher accuracy and better skin cancer classification</a:t>
            </a:r>
            <a:r>
              <a:rPr kumimoji="0" lang="en-US" altLang="en-US" sz="1800" b="0" i="0" u="none" strike="noStrike" cap="none" normalizeH="0" baseline="0" dirty="0">
                <a:ln>
                  <a:noFill/>
                </a:ln>
                <a:solidFill>
                  <a:schemeClr val="tx1"/>
                </a:solidFill>
                <a:effectLst/>
                <a:latin typeface="+mn-lt"/>
              </a:rPr>
              <a:t>. </a:t>
            </a:r>
          </a:p>
        </p:txBody>
      </p:sp>
    </p:spTree>
    <p:extLst>
      <p:ext uri="{BB962C8B-B14F-4D97-AF65-F5344CB8AC3E}">
        <p14:creationId xmlns:p14="http://schemas.microsoft.com/office/powerpoint/2010/main" val="3905079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54E4F1-295C-446A-AAE9-169A64F0A3E1}"/>
              </a:ext>
            </a:extLst>
          </p:cNvPr>
          <p:cNvSpPr>
            <a:spLocks noGrp="1"/>
          </p:cNvSpPr>
          <p:nvPr>
            <p:ph idx="1"/>
          </p:nvPr>
        </p:nvSpPr>
        <p:spPr>
          <a:xfrm>
            <a:off x="304800" y="937419"/>
            <a:ext cx="8537510" cy="2339102"/>
          </a:xfrm>
        </p:spPr>
        <p:txBody>
          <a:bodyPr/>
          <a:lstStyle/>
          <a:p>
            <a:pPr marL="0" indent="0">
              <a:buNone/>
            </a:pPr>
            <a:endParaRPr lang="en-IN" b="1" dirty="0">
              <a:solidFill>
                <a:srgbClr val="002060"/>
              </a:solidFill>
              <a:cs typeface="Arial" panose="020B0604020202020204" pitchFamily="34" charset="0"/>
            </a:endParaRPr>
          </a:p>
          <a:p>
            <a:endParaRPr lang="en-IN" dirty="0"/>
          </a:p>
        </p:txBody>
      </p:sp>
      <p:sp>
        <p:nvSpPr>
          <p:cNvPr id="4" name="TextBox 3">
            <a:extLst>
              <a:ext uri="{FF2B5EF4-FFF2-40B4-BE49-F238E27FC236}">
                <a16:creationId xmlns:a16="http://schemas.microsoft.com/office/drawing/2014/main" id="{39388DB4-F2F4-EAD8-E2E7-6640C7320B85}"/>
              </a:ext>
            </a:extLst>
          </p:cNvPr>
          <p:cNvSpPr txBox="1"/>
          <p:nvPr/>
        </p:nvSpPr>
        <p:spPr>
          <a:xfrm>
            <a:off x="4038600" y="173653"/>
            <a:ext cx="2811210"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mj-lt"/>
              </a:rPr>
              <a:t>Existing System</a:t>
            </a:r>
          </a:p>
        </p:txBody>
      </p:sp>
      <p:sp>
        <p:nvSpPr>
          <p:cNvPr id="2" name="Rectangle 1">
            <a:extLst>
              <a:ext uri="{FF2B5EF4-FFF2-40B4-BE49-F238E27FC236}">
                <a16:creationId xmlns:a16="http://schemas.microsoft.com/office/drawing/2014/main" id="{B59B5F06-75D2-42DA-4495-2942886109A0}"/>
              </a:ext>
            </a:extLst>
          </p:cNvPr>
          <p:cNvSpPr>
            <a:spLocks noChangeArrowheads="1"/>
          </p:cNvSpPr>
          <p:nvPr/>
        </p:nvSpPr>
        <p:spPr bwMode="auto">
          <a:xfrm>
            <a:off x="274475" y="937419"/>
            <a:ext cx="8595049" cy="4503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mn-lt"/>
            </a:endParaRP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Skin cancer detection is mainly performed through </a:t>
            </a:r>
            <a:r>
              <a:rPr kumimoji="0" lang="en-US" altLang="en-US" sz="1800" b="1" i="0" u="none" strike="noStrike" cap="none" normalizeH="0" baseline="0" dirty="0">
                <a:ln>
                  <a:noFill/>
                </a:ln>
                <a:solidFill>
                  <a:schemeClr val="tx1"/>
                </a:solidFill>
                <a:effectLst/>
                <a:latin typeface="+mn-lt"/>
              </a:rPr>
              <a:t>manual examination by dermatologists</a:t>
            </a:r>
            <a:r>
              <a:rPr kumimoji="0" lang="en-US" altLang="en-US" sz="1800" b="0" i="0" u="none" strike="noStrike" cap="none" normalizeH="0" baseline="0" dirty="0">
                <a:ln>
                  <a:noFill/>
                </a:ln>
                <a:solidFill>
                  <a:schemeClr val="tx1"/>
                </a:solidFill>
                <a:effectLst/>
                <a:latin typeface="+mn-lt"/>
              </a:rPr>
              <a:t>, which is time-consuming and subjective.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Early automated approaches use </a:t>
            </a:r>
            <a:r>
              <a:rPr kumimoji="0" lang="en-US" altLang="en-US" sz="1800" b="1" i="0" u="none" strike="noStrike" cap="none" normalizeH="0" baseline="0" dirty="0">
                <a:ln>
                  <a:noFill/>
                </a:ln>
                <a:solidFill>
                  <a:schemeClr val="tx1"/>
                </a:solidFill>
                <a:effectLst/>
                <a:latin typeface="+mn-lt"/>
              </a:rPr>
              <a:t>Computer-Aided Diagnosis (CAD)</a:t>
            </a:r>
            <a:r>
              <a:rPr kumimoji="0" lang="en-US" altLang="en-US" sz="1800" b="0" i="0" u="none" strike="noStrike" cap="none" normalizeH="0" baseline="0" dirty="0">
                <a:ln>
                  <a:noFill/>
                </a:ln>
                <a:solidFill>
                  <a:schemeClr val="tx1"/>
                </a:solidFill>
                <a:effectLst/>
                <a:latin typeface="+mn-lt"/>
              </a:rPr>
              <a:t> systems to assist in analyzing skin lesion images.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Most existing systems are based on </a:t>
            </a:r>
            <a:r>
              <a:rPr kumimoji="0" lang="en-US" altLang="en-US" sz="1800" b="1" i="0" u="none" strike="noStrike" cap="none" normalizeH="0" baseline="0" dirty="0">
                <a:ln>
                  <a:noFill/>
                </a:ln>
                <a:solidFill>
                  <a:schemeClr val="tx1"/>
                </a:solidFill>
                <a:effectLst/>
                <a:latin typeface="+mn-lt"/>
              </a:rPr>
              <a:t>Convolutional Neural Networks (CNNs)</a:t>
            </a:r>
            <a:r>
              <a:rPr kumimoji="0" lang="en-US" altLang="en-US" sz="1800" b="0" i="0" u="none" strike="noStrike" cap="none" normalizeH="0" baseline="0" dirty="0">
                <a:ln>
                  <a:noFill/>
                </a:ln>
                <a:solidFill>
                  <a:schemeClr val="tx1"/>
                </a:solidFill>
                <a:effectLst/>
                <a:latin typeface="+mn-lt"/>
              </a:rPr>
              <a:t> for image classification.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CNN models extract </a:t>
            </a:r>
            <a:r>
              <a:rPr kumimoji="0" lang="en-US" altLang="en-US" sz="1800" b="1" i="0" u="none" strike="noStrike" cap="none" normalizeH="0" baseline="0" dirty="0">
                <a:ln>
                  <a:noFill/>
                </a:ln>
                <a:solidFill>
                  <a:schemeClr val="tx1"/>
                </a:solidFill>
                <a:effectLst/>
                <a:latin typeface="+mn-lt"/>
              </a:rPr>
              <a:t>local features</a:t>
            </a:r>
            <a:r>
              <a:rPr kumimoji="0" lang="en-US" altLang="en-US" sz="1800" b="0" i="0" u="none" strike="noStrike" cap="none" normalizeH="0" baseline="0" dirty="0">
                <a:ln>
                  <a:noFill/>
                </a:ln>
                <a:solidFill>
                  <a:schemeClr val="tx1"/>
                </a:solidFill>
                <a:effectLst/>
                <a:latin typeface="+mn-lt"/>
              </a:rPr>
              <a:t> such as edges, textures, and patterns from </a:t>
            </a:r>
            <a:r>
              <a:rPr kumimoji="0" lang="en-US" altLang="en-US" sz="1800" b="0" i="0" u="none" strike="noStrike" cap="none" normalizeH="0" baseline="0" dirty="0" err="1">
                <a:ln>
                  <a:noFill/>
                </a:ln>
                <a:solidFill>
                  <a:schemeClr val="tx1"/>
                </a:solidFill>
                <a:effectLst/>
                <a:latin typeface="+mn-lt"/>
              </a:rPr>
              <a:t>dermoscopic</a:t>
            </a:r>
            <a:r>
              <a:rPr kumimoji="0" lang="en-US" altLang="en-US" sz="1800" b="0" i="0" u="none" strike="noStrike" cap="none" normalizeH="0" baseline="0" dirty="0">
                <a:ln>
                  <a:noFill/>
                </a:ln>
                <a:solidFill>
                  <a:schemeClr val="tx1"/>
                </a:solidFill>
                <a:effectLst/>
                <a:latin typeface="+mn-lt"/>
              </a:rPr>
              <a:t> images.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These systems use datasets like </a:t>
            </a:r>
            <a:r>
              <a:rPr kumimoji="0" lang="en-US" altLang="en-US" sz="1800" b="1" i="0" u="none" strike="noStrike" cap="none" normalizeH="0" baseline="0" dirty="0">
                <a:ln>
                  <a:noFill/>
                </a:ln>
                <a:solidFill>
                  <a:schemeClr val="tx1"/>
                </a:solidFill>
                <a:effectLst/>
                <a:latin typeface="+mn-lt"/>
              </a:rPr>
              <a:t>HAM10000</a:t>
            </a:r>
            <a:r>
              <a:rPr kumimoji="0" lang="en-US" altLang="en-US" sz="1800" b="0" i="0" u="none" strike="noStrike" cap="none" normalizeH="0" baseline="0" dirty="0">
                <a:ln>
                  <a:noFill/>
                </a:ln>
                <a:solidFill>
                  <a:schemeClr val="tx1"/>
                </a:solidFill>
                <a:effectLst/>
                <a:latin typeface="+mn-lt"/>
              </a:rPr>
              <a:t> for training multi-class skin lesion classification models.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However, existing systems have limitations such as: </a:t>
            </a:r>
          </a:p>
          <a:p>
            <a:pPr marL="742950" lvl="1" indent="-285750" algn="just"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mn-lt"/>
              </a:rPr>
              <a:t>Inability to capture </a:t>
            </a:r>
            <a:r>
              <a:rPr kumimoji="0" lang="en-US" altLang="en-US" b="1" i="0" u="none" strike="noStrike" cap="none" normalizeH="0" baseline="0" dirty="0">
                <a:ln>
                  <a:noFill/>
                </a:ln>
                <a:solidFill>
                  <a:schemeClr val="tx1"/>
                </a:solidFill>
                <a:effectLst/>
                <a:latin typeface="+mn-lt"/>
              </a:rPr>
              <a:t>global context</a:t>
            </a:r>
            <a:r>
              <a:rPr kumimoji="0" lang="en-US" altLang="en-US" b="0" i="0" u="none" strike="noStrike" cap="none" normalizeH="0" baseline="0" dirty="0">
                <a:ln>
                  <a:noFill/>
                </a:ln>
                <a:solidFill>
                  <a:schemeClr val="tx1"/>
                </a:solidFill>
                <a:effectLst/>
                <a:latin typeface="+mn-lt"/>
              </a:rPr>
              <a:t> </a:t>
            </a:r>
          </a:p>
          <a:p>
            <a:pPr marL="742950" lvl="1" indent="-285750" algn="just" eaLnBrk="0" hangingPunct="0">
              <a:buFont typeface="Arial" panose="020B0604020202020204" pitchFamily="34" charset="0"/>
              <a:buChar char="•"/>
            </a:pPr>
            <a:r>
              <a:rPr kumimoji="0" lang="en-US" altLang="en-US" b="1" i="0" u="none" strike="noStrike" cap="none" normalizeH="0" baseline="0" dirty="0">
                <a:ln>
                  <a:noFill/>
                </a:ln>
                <a:solidFill>
                  <a:schemeClr val="tx1"/>
                </a:solidFill>
                <a:effectLst/>
                <a:latin typeface="+mn-lt"/>
              </a:rPr>
              <a:t>Lower accuracy</a:t>
            </a:r>
            <a:r>
              <a:rPr kumimoji="0" lang="en-US" altLang="en-US" b="0" i="0" u="none" strike="noStrike" cap="none" normalizeH="0" baseline="0" dirty="0">
                <a:ln>
                  <a:noFill/>
                </a:ln>
                <a:solidFill>
                  <a:schemeClr val="tx1"/>
                </a:solidFill>
                <a:effectLst/>
                <a:latin typeface="+mn-lt"/>
              </a:rPr>
              <a:t> in complex multi-class classification </a:t>
            </a:r>
          </a:p>
          <a:p>
            <a:pPr marL="742950" lvl="1" indent="-285750" algn="just"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mn-lt"/>
              </a:rPr>
              <a:t>Difficulty distinguishing </a:t>
            </a:r>
            <a:r>
              <a:rPr kumimoji="0" lang="en-US" altLang="en-US" b="1" i="0" u="none" strike="noStrike" cap="none" normalizeH="0" baseline="0" dirty="0">
                <a:ln>
                  <a:noFill/>
                </a:ln>
                <a:solidFill>
                  <a:schemeClr val="tx1"/>
                </a:solidFill>
                <a:effectLst/>
                <a:latin typeface="+mn-lt"/>
              </a:rPr>
              <a:t>similar lesions (benign vs malignant)</a:t>
            </a: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3379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58409-B2ED-98BB-EE5F-6E93577BFD2F}"/>
              </a:ext>
            </a:extLst>
          </p:cNvPr>
          <p:cNvSpPr>
            <a:spLocks noGrp="1"/>
          </p:cNvSpPr>
          <p:nvPr>
            <p:ph type="ctrTitle"/>
          </p:nvPr>
        </p:nvSpPr>
        <p:spPr>
          <a:xfrm>
            <a:off x="1361440" y="-76200"/>
            <a:ext cx="7772400" cy="1603369"/>
          </a:xfrm>
        </p:spPr>
        <p:txBody>
          <a:bodyPr/>
          <a:lstStyle/>
          <a:p>
            <a:r>
              <a:rPr lang="en-US" altLang="en-US" sz="3200" b="1" dirty="0"/>
              <a:t>Proposed System</a:t>
            </a:r>
            <a:br>
              <a:rPr lang="en-US" altLang="en-US" b="1" dirty="0"/>
            </a:br>
            <a:endParaRPr lang="en-IN" dirty="0"/>
          </a:p>
        </p:txBody>
      </p:sp>
      <p:sp>
        <p:nvSpPr>
          <p:cNvPr id="4" name="Rectangle 1">
            <a:extLst>
              <a:ext uri="{FF2B5EF4-FFF2-40B4-BE49-F238E27FC236}">
                <a16:creationId xmlns:a16="http://schemas.microsoft.com/office/drawing/2014/main" id="{D7543673-D7EA-5BAE-D638-108A2355E6CD}"/>
              </a:ext>
            </a:extLst>
          </p:cNvPr>
          <p:cNvSpPr>
            <a:spLocks noGrp="1" noChangeArrowheads="1"/>
          </p:cNvSpPr>
          <p:nvPr>
            <p:ph type="subTitle" idx="1"/>
          </p:nvPr>
        </p:nvSpPr>
        <p:spPr bwMode="auto">
          <a:xfrm>
            <a:off x="571500" y="3128445"/>
            <a:ext cx="8420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Rectangle 5">
            <a:extLst>
              <a:ext uri="{FF2B5EF4-FFF2-40B4-BE49-F238E27FC236}">
                <a16:creationId xmlns:a16="http://schemas.microsoft.com/office/drawing/2014/main" id="{4695265E-AA97-E9BB-4FDB-B36A12A53839}"/>
              </a:ext>
            </a:extLst>
          </p:cNvPr>
          <p:cNvSpPr>
            <a:spLocks noChangeArrowheads="1"/>
          </p:cNvSpPr>
          <p:nvPr/>
        </p:nvSpPr>
        <p:spPr bwMode="auto">
          <a:xfrm>
            <a:off x="266700" y="990600"/>
            <a:ext cx="8610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mn-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The proposed system uses a </a:t>
            </a:r>
            <a:r>
              <a:rPr kumimoji="0" lang="en-US" altLang="en-US" sz="1800" b="1" i="0" u="none" strike="noStrike" cap="none" normalizeH="0" baseline="0" dirty="0">
                <a:ln>
                  <a:noFill/>
                </a:ln>
                <a:solidFill>
                  <a:schemeClr val="tx1"/>
                </a:solidFill>
                <a:effectLst/>
                <a:latin typeface="+mn-lt"/>
              </a:rPr>
              <a:t>hybrid deep learning model</a:t>
            </a:r>
            <a:r>
              <a:rPr kumimoji="0" lang="en-US" altLang="en-US" sz="1800" b="0" i="0" u="none" strike="noStrike" cap="none" normalizeH="0" baseline="0" dirty="0">
                <a:ln>
                  <a:noFill/>
                </a:ln>
                <a:solidFill>
                  <a:schemeClr val="tx1"/>
                </a:solidFill>
                <a:effectLst/>
                <a:latin typeface="+mn-lt"/>
              </a:rPr>
              <a:t> combining CNN (EfficientNet-B0) and Vision Transformer (</a:t>
            </a:r>
            <a:r>
              <a:rPr kumimoji="0" lang="en-US" altLang="en-US" sz="1800" b="0" i="0" u="none" strike="noStrike" cap="none" normalizeH="0" baseline="0" dirty="0" err="1">
                <a:ln>
                  <a:noFill/>
                </a:ln>
                <a:solidFill>
                  <a:schemeClr val="tx1"/>
                </a:solidFill>
                <a:effectLst/>
                <a:latin typeface="+mn-lt"/>
              </a:rPr>
              <a:t>ViT</a:t>
            </a:r>
            <a:r>
              <a:rPr kumimoji="0" lang="en-US" altLang="en-US" sz="1800" b="0" i="0" u="none" strike="noStrike" cap="none" normalizeH="0" baseline="0" dirty="0">
                <a:ln>
                  <a:noFill/>
                </a:ln>
                <a:solidFill>
                  <a:schemeClr val="tx1"/>
                </a:solidFill>
                <a:effectLst/>
                <a:latin typeface="+mn-lt"/>
              </a:rPr>
              <a: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EfficientNet-B0 (CNN)</a:t>
            </a:r>
            <a:r>
              <a:rPr kumimoji="0" lang="en-US" altLang="en-US" sz="1800" b="0" i="0" u="none" strike="noStrike" cap="none" normalizeH="0" baseline="0" dirty="0">
                <a:ln>
                  <a:noFill/>
                </a:ln>
                <a:solidFill>
                  <a:schemeClr val="tx1"/>
                </a:solidFill>
                <a:effectLst/>
                <a:latin typeface="+mn-lt"/>
              </a:rPr>
              <a:t> is used to extract </a:t>
            </a:r>
            <a:r>
              <a:rPr kumimoji="0" lang="en-US" altLang="en-US" sz="1800" b="1" i="0" u="none" strike="noStrike" cap="none" normalizeH="0" baseline="0" dirty="0">
                <a:ln>
                  <a:noFill/>
                </a:ln>
                <a:solidFill>
                  <a:schemeClr val="tx1"/>
                </a:solidFill>
                <a:effectLst/>
                <a:latin typeface="+mn-lt"/>
              </a:rPr>
              <a:t>local features</a:t>
            </a:r>
            <a:r>
              <a:rPr kumimoji="0" lang="en-US" altLang="en-US" sz="1800" b="0" i="0" u="none" strike="noStrike" cap="none" normalizeH="0" baseline="0" dirty="0">
                <a:ln>
                  <a:noFill/>
                </a:ln>
                <a:solidFill>
                  <a:schemeClr val="tx1"/>
                </a:solidFill>
                <a:effectLst/>
                <a:latin typeface="+mn-lt"/>
              </a:rPr>
              <a:t> such as edges, textures, and fine details from skin images.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A </a:t>
            </a:r>
            <a:r>
              <a:rPr kumimoji="0" lang="en-US" altLang="en-US" sz="1800" b="1" i="0" u="none" strike="noStrike" cap="none" normalizeH="0" baseline="0" dirty="0">
                <a:ln>
                  <a:noFill/>
                </a:ln>
                <a:solidFill>
                  <a:schemeClr val="tx1"/>
                </a:solidFill>
                <a:effectLst/>
                <a:latin typeface="+mn-lt"/>
              </a:rPr>
              <a:t>1×1 convolution layer</a:t>
            </a:r>
            <a:r>
              <a:rPr kumimoji="0" lang="en-US" altLang="en-US" sz="1800" b="0" i="0" u="none" strike="noStrike" cap="none" normalizeH="0" baseline="0" dirty="0">
                <a:ln>
                  <a:noFill/>
                </a:ln>
                <a:solidFill>
                  <a:schemeClr val="tx1"/>
                </a:solidFill>
                <a:effectLst/>
                <a:latin typeface="+mn-lt"/>
              </a:rPr>
              <a:t> is applied to transform extracted features into a suitable representation for further processing.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Vision Transformer (</a:t>
            </a:r>
            <a:r>
              <a:rPr kumimoji="0" lang="en-US" altLang="en-US" sz="1800" b="1" i="0" u="none" strike="noStrike" cap="none" normalizeH="0" baseline="0" dirty="0" err="1">
                <a:ln>
                  <a:noFill/>
                </a:ln>
                <a:solidFill>
                  <a:schemeClr val="tx1"/>
                </a:solidFill>
                <a:effectLst/>
                <a:latin typeface="+mn-lt"/>
              </a:rPr>
              <a:t>ViT</a:t>
            </a:r>
            <a:r>
              <a:rPr kumimoji="0" lang="en-US" altLang="en-US" sz="1800" b="1" i="0" u="none" strike="noStrike" cap="none" normalizeH="0" baseline="0" dirty="0">
                <a:ln>
                  <a:noFill/>
                </a:ln>
                <a:solidFill>
                  <a:schemeClr val="tx1"/>
                </a:solidFill>
                <a:effectLst/>
                <a:latin typeface="+mn-lt"/>
              </a:rPr>
              <a:t>)</a:t>
            </a:r>
            <a:r>
              <a:rPr kumimoji="0" lang="en-US" altLang="en-US" sz="1800" b="0" i="0" u="none" strike="noStrike" cap="none" normalizeH="0" baseline="0" dirty="0">
                <a:ln>
                  <a:noFill/>
                </a:ln>
                <a:solidFill>
                  <a:schemeClr val="tx1"/>
                </a:solidFill>
                <a:effectLst/>
                <a:latin typeface="+mn-lt"/>
              </a:rPr>
              <a:t> captures </a:t>
            </a:r>
            <a:r>
              <a:rPr kumimoji="0" lang="en-US" altLang="en-US" sz="1800" b="1" i="0" u="none" strike="noStrike" cap="none" normalizeH="0" baseline="0" dirty="0">
                <a:ln>
                  <a:noFill/>
                </a:ln>
                <a:solidFill>
                  <a:schemeClr val="tx1"/>
                </a:solidFill>
                <a:effectLst/>
                <a:latin typeface="+mn-lt"/>
              </a:rPr>
              <a:t>global contextual information</a:t>
            </a:r>
            <a:r>
              <a:rPr kumimoji="0" lang="en-US" altLang="en-US" sz="1800" b="0" i="0" u="none" strike="noStrike" cap="none" normalizeH="0" baseline="0" dirty="0">
                <a:ln>
                  <a:noFill/>
                </a:ln>
                <a:solidFill>
                  <a:schemeClr val="tx1"/>
                </a:solidFill>
                <a:effectLst/>
                <a:latin typeface="+mn-lt"/>
              </a:rPr>
              <a:t> and spatial relationships using attention mechanisms.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The model is trained on the </a:t>
            </a:r>
            <a:r>
              <a:rPr kumimoji="0" lang="en-US" altLang="en-US" sz="1800" b="1" i="0" u="none" strike="noStrike" cap="none" normalizeH="0" baseline="0" dirty="0">
                <a:ln>
                  <a:noFill/>
                </a:ln>
                <a:solidFill>
                  <a:schemeClr val="tx1"/>
                </a:solidFill>
                <a:effectLst/>
                <a:latin typeface="+mn-lt"/>
              </a:rPr>
              <a:t>HAM10000 dataset</a:t>
            </a:r>
            <a:r>
              <a:rPr kumimoji="0" lang="en-US" altLang="en-US" sz="1800" b="0" i="0" u="none" strike="noStrike" cap="none" normalizeH="0" baseline="0" dirty="0">
                <a:ln>
                  <a:noFill/>
                </a:ln>
                <a:solidFill>
                  <a:schemeClr val="tx1"/>
                </a:solidFill>
                <a:effectLst/>
                <a:latin typeface="+mn-lt"/>
              </a:rPr>
              <a:t> for </a:t>
            </a:r>
            <a:r>
              <a:rPr kumimoji="0" lang="en-US" altLang="en-US" sz="1800" b="1" i="0" u="none" strike="noStrike" cap="none" normalizeH="0" baseline="0" dirty="0">
                <a:ln>
                  <a:noFill/>
                </a:ln>
                <a:solidFill>
                  <a:schemeClr val="tx1"/>
                </a:solidFill>
                <a:effectLst/>
                <a:latin typeface="+mn-lt"/>
              </a:rPr>
              <a:t>multi-class classification</a:t>
            </a:r>
            <a:r>
              <a:rPr kumimoji="0" lang="en-US" altLang="en-US" sz="1800" b="0" i="0" u="none" strike="noStrike" cap="none" normalizeH="0" baseline="0" dirty="0">
                <a:ln>
                  <a:noFill/>
                </a:ln>
                <a:solidFill>
                  <a:schemeClr val="tx1"/>
                </a:solidFill>
                <a:effectLst/>
                <a:latin typeface="+mn-lt"/>
              </a:rPr>
              <a:t> of skin diseases.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n-lt"/>
              </a:rPr>
              <a:t>This hybrid approach improves: </a:t>
            </a:r>
          </a:p>
          <a:p>
            <a:pPr marL="742950" lvl="1" indent="-285750" algn="just" eaLnBrk="0" hangingPunct="0">
              <a:buFont typeface="Arial" panose="020B0604020202020204" pitchFamily="34" charset="0"/>
              <a:buChar char="•"/>
            </a:pPr>
            <a:r>
              <a:rPr kumimoji="0" lang="en-US" altLang="en-US" i="0" u="none" strike="noStrike" cap="none" normalizeH="0" baseline="0" dirty="0">
                <a:ln>
                  <a:noFill/>
                </a:ln>
                <a:solidFill>
                  <a:schemeClr val="tx1"/>
                </a:solidFill>
                <a:effectLst/>
                <a:latin typeface="+mn-lt"/>
              </a:rPr>
              <a:t>Classification accuracy </a:t>
            </a:r>
          </a:p>
          <a:p>
            <a:pPr marL="742950" lvl="1" indent="-285750" algn="just" eaLnBrk="0" hangingPunct="0">
              <a:buFont typeface="Arial" panose="020B0604020202020204" pitchFamily="34" charset="0"/>
              <a:buChar char="•"/>
            </a:pPr>
            <a:r>
              <a:rPr kumimoji="0" lang="en-US" altLang="en-US" i="0" u="none" strike="noStrike" cap="none" normalizeH="0" baseline="0" dirty="0">
                <a:ln>
                  <a:noFill/>
                </a:ln>
                <a:solidFill>
                  <a:schemeClr val="tx1"/>
                </a:solidFill>
                <a:effectLst/>
                <a:latin typeface="+mn-lt"/>
              </a:rPr>
              <a:t>Feature representation (local + global) </a:t>
            </a:r>
          </a:p>
          <a:p>
            <a:pPr marL="742950" lvl="1" indent="-285750" algn="just" eaLnBrk="0" hangingPunct="0">
              <a:buFont typeface="Arial" panose="020B0604020202020204" pitchFamily="34" charset="0"/>
              <a:buChar char="•"/>
            </a:pPr>
            <a:r>
              <a:rPr kumimoji="0" lang="en-US" altLang="en-US" i="0" u="none" strike="noStrike" cap="none" normalizeH="0" baseline="0" dirty="0">
                <a:ln>
                  <a:noFill/>
                </a:ln>
                <a:solidFill>
                  <a:schemeClr val="tx1"/>
                </a:solidFill>
                <a:effectLst/>
                <a:latin typeface="+mn-lt"/>
              </a:rPr>
              <a:t>Detection of both benign and malignant lesions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5029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CC152-4877-4AB6-BEBD-A3204256A2FF}"/>
              </a:ext>
            </a:extLst>
          </p:cNvPr>
          <p:cNvSpPr>
            <a:spLocks noGrp="1"/>
          </p:cNvSpPr>
          <p:nvPr>
            <p:ph idx="1"/>
          </p:nvPr>
        </p:nvSpPr>
        <p:spPr>
          <a:xfrm>
            <a:off x="3429000" y="152400"/>
            <a:ext cx="4724400" cy="533400"/>
          </a:xfrm>
        </p:spPr>
        <p:txBody>
          <a:bodyPr/>
          <a:lstStyle/>
          <a:p>
            <a:pPr marL="0" indent="0">
              <a:buNone/>
            </a:pPr>
            <a:r>
              <a:rPr lang="en-IN" sz="2800" b="1" dirty="0"/>
              <a:t> </a:t>
            </a:r>
            <a:r>
              <a:rPr lang="en-IN" b="1" dirty="0">
                <a:latin typeface="+mj-lt"/>
              </a:rPr>
              <a:t>Tools for Implementation</a:t>
            </a:r>
          </a:p>
        </p:txBody>
      </p:sp>
      <p:sp>
        <p:nvSpPr>
          <p:cNvPr id="5" name="TextBox 4">
            <a:extLst>
              <a:ext uri="{FF2B5EF4-FFF2-40B4-BE49-F238E27FC236}">
                <a16:creationId xmlns:a16="http://schemas.microsoft.com/office/drawing/2014/main" id="{DC80EBED-E89B-8A1A-434B-A90643CF29F3}"/>
              </a:ext>
            </a:extLst>
          </p:cNvPr>
          <p:cNvSpPr txBox="1"/>
          <p:nvPr/>
        </p:nvSpPr>
        <p:spPr>
          <a:xfrm flipV="1">
            <a:off x="457201" y="1325881"/>
            <a:ext cx="3813304" cy="45719"/>
          </a:xfrm>
          <a:prstGeom prst="rect">
            <a:avLst/>
          </a:prstGeom>
          <a:noFill/>
        </p:spPr>
        <p:txBody>
          <a:bodyPr wrap="square" rtlCol="0">
            <a:spAutoFit/>
          </a:bodyPr>
          <a:lstStyle/>
          <a:p>
            <a:pPr>
              <a:lnSpc>
                <a:spcPct val="150000"/>
              </a:lnSpc>
            </a:pPr>
            <a:endParaRPr lang="en-IN" dirty="0">
              <a:latin typeface="+mn-lt"/>
            </a:endParaRPr>
          </a:p>
        </p:txBody>
      </p:sp>
      <p:sp>
        <p:nvSpPr>
          <p:cNvPr id="7" name="Rectangle 1">
            <a:extLst>
              <a:ext uri="{FF2B5EF4-FFF2-40B4-BE49-F238E27FC236}">
                <a16:creationId xmlns:a16="http://schemas.microsoft.com/office/drawing/2014/main" id="{2DB3A59C-B6E6-AB52-EF38-A5FB59B9FF8E}"/>
              </a:ext>
            </a:extLst>
          </p:cNvPr>
          <p:cNvSpPr>
            <a:spLocks noChangeArrowheads="1"/>
          </p:cNvSpPr>
          <p:nvPr/>
        </p:nvSpPr>
        <p:spPr bwMode="auto">
          <a:xfrm>
            <a:off x="533400" y="1720840"/>
            <a:ext cx="8153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Programming Language:</a:t>
            </a:r>
            <a:r>
              <a:rPr kumimoji="0" lang="en-US" altLang="en-US" sz="1800" b="0" i="0" u="none" strike="noStrike" cap="none" normalizeH="0" baseline="0" dirty="0">
                <a:ln>
                  <a:noFill/>
                </a:ln>
                <a:solidFill>
                  <a:schemeClr val="tx1"/>
                </a:solidFill>
                <a:effectLst/>
                <a:latin typeface="+mn-lt"/>
              </a:rPr>
              <a:t> Python (used for model development and data processing)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Deep Learning Frameworks:</a:t>
            </a:r>
            <a:r>
              <a:rPr kumimoji="0" lang="en-US" altLang="en-US" sz="1800" b="0" i="0" u="none" strike="noStrike" cap="none" normalizeH="0" baseline="0" dirty="0">
                <a:ln>
                  <a:noFill/>
                </a:ln>
                <a:solidFill>
                  <a:schemeClr val="tx1"/>
                </a:solidFill>
                <a:effectLst/>
                <a:latin typeface="+mn-lt"/>
              </a:rPr>
              <a:t> TensorFlow / </a:t>
            </a:r>
            <a:r>
              <a:rPr kumimoji="0" lang="en-US" altLang="en-US" sz="1800" b="0" i="0" u="none" strike="noStrike" cap="none" normalizeH="0" baseline="0" dirty="0" err="1">
                <a:ln>
                  <a:noFill/>
                </a:ln>
                <a:solidFill>
                  <a:schemeClr val="tx1"/>
                </a:solidFill>
                <a:effectLst/>
                <a:latin typeface="+mn-lt"/>
              </a:rPr>
              <a:t>Keras</a:t>
            </a:r>
            <a:r>
              <a:rPr kumimoji="0" lang="en-US" altLang="en-US" sz="1800" b="0" i="0" u="none" strike="noStrike" cap="none" normalizeH="0" baseline="0" dirty="0">
                <a:ln>
                  <a:noFill/>
                </a:ln>
                <a:solidFill>
                  <a:schemeClr val="tx1"/>
                </a:solidFill>
                <a:effectLst/>
                <a:latin typeface="+mn-lt"/>
              </a:rPr>
              <a:t> or </a:t>
            </a:r>
            <a:r>
              <a:rPr kumimoji="0" lang="en-US" altLang="en-US" sz="1800" b="0" i="0" u="none" strike="noStrike" cap="none" normalizeH="0" baseline="0" dirty="0" err="1">
                <a:ln>
                  <a:noFill/>
                </a:ln>
                <a:solidFill>
                  <a:schemeClr val="tx1"/>
                </a:solidFill>
                <a:effectLst/>
                <a:latin typeface="+mn-lt"/>
              </a:rPr>
              <a:t>PyTorch</a:t>
            </a:r>
            <a:r>
              <a:rPr kumimoji="0" lang="en-US" altLang="en-US" sz="1800" b="0" i="0" u="none" strike="noStrike" cap="none" normalizeH="0" baseline="0" dirty="0">
                <a:ln>
                  <a:noFill/>
                </a:ln>
                <a:solidFill>
                  <a:schemeClr val="tx1"/>
                </a:solidFill>
                <a:effectLst/>
                <a:latin typeface="+mn-lt"/>
              </a:rPr>
              <a:t> (for building CNN and Vision Transformer models)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Libraries:</a:t>
            </a:r>
            <a:r>
              <a:rPr kumimoji="0" lang="en-US" altLang="en-US" sz="1800" b="0" i="0" u="none" strike="noStrike" cap="none" normalizeH="0" baseline="0" dirty="0">
                <a:ln>
                  <a:noFill/>
                </a:ln>
                <a:solidFill>
                  <a:schemeClr val="tx1"/>
                </a:solidFill>
                <a:effectLst/>
                <a:latin typeface="+mn-lt"/>
              </a:rPr>
              <a:t> NumPy, Pandas (data handling), Matplotlib / Seaborn (visualization), OpenCV (image processing)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Dataset:</a:t>
            </a:r>
            <a:r>
              <a:rPr kumimoji="0" lang="en-US" altLang="en-US" sz="1800" b="0" i="0" u="none" strike="noStrike" cap="none" normalizeH="0" baseline="0" dirty="0">
                <a:ln>
                  <a:noFill/>
                </a:ln>
                <a:solidFill>
                  <a:schemeClr val="tx1"/>
                </a:solidFill>
                <a:effectLst/>
                <a:latin typeface="+mn-lt"/>
              </a:rPr>
              <a:t> HAM10000 dataset (used for training and testing skin lesion classification)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Development Environment:</a:t>
            </a:r>
            <a:r>
              <a:rPr kumimoji="0" lang="en-US" altLang="en-US" sz="1800" b="0" i="0" u="none" strike="noStrike" cap="none" normalizeH="0" baseline="0" dirty="0">
                <a:ln>
                  <a:noFill/>
                </a:ln>
                <a:solidFill>
                  <a:schemeClr val="tx1"/>
                </a:solidFill>
                <a:effectLst/>
                <a:latin typeface="+mn-lt"/>
              </a:rPr>
              <a:t> </a:t>
            </a:r>
            <a:r>
              <a:rPr kumimoji="0" lang="en-US" altLang="en-US" sz="1800" b="0" i="0" u="none" strike="noStrike" cap="none" normalizeH="0" baseline="0" dirty="0" err="1">
                <a:ln>
                  <a:noFill/>
                </a:ln>
                <a:solidFill>
                  <a:schemeClr val="tx1"/>
                </a:solidFill>
                <a:effectLst/>
                <a:latin typeface="+mn-lt"/>
              </a:rPr>
              <a:t>Jupyter</a:t>
            </a:r>
            <a:r>
              <a:rPr kumimoji="0" lang="en-US" altLang="en-US" sz="1800" b="0" i="0" u="none" strike="noStrike" cap="none" normalizeH="0" baseline="0" dirty="0">
                <a:ln>
                  <a:noFill/>
                </a:ln>
                <a:solidFill>
                  <a:schemeClr val="tx1"/>
                </a:solidFill>
                <a:effectLst/>
                <a:latin typeface="+mn-lt"/>
              </a:rPr>
              <a:t> Notebook / Google </a:t>
            </a:r>
            <a:r>
              <a:rPr kumimoji="0" lang="en-US" altLang="en-US" sz="1800" b="0" i="0" u="none" strike="noStrike" cap="none" normalizeH="0" baseline="0" dirty="0" err="1">
                <a:ln>
                  <a:noFill/>
                </a:ln>
                <a:solidFill>
                  <a:schemeClr val="tx1"/>
                </a:solidFill>
                <a:effectLst/>
                <a:latin typeface="+mn-lt"/>
              </a:rPr>
              <a:t>Colab</a:t>
            </a:r>
            <a:r>
              <a:rPr kumimoji="0" lang="en-US" altLang="en-US" sz="1800" b="0" i="0" u="none" strike="noStrike" cap="none" normalizeH="0" baseline="0" dirty="0">
                <a:ln>
                  <a:noFill/>
                </a:ln>
                <a:solidFill>
                  <a:schemeClr val="tx1"/>
                </a:solidFill>
                <a:effectLst/>
                <a:latin typeface="+mn-lt"/>
              </a:rPr>
              <a:t> (for coding and experimentation)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mn-lt"/>
              </a:rPr>
              <a:t>Hardware/Platform:</a:t>
            </a:r>
            <a:r>
              <a:rPr kumimoji="0" lang="en-US" altLang="en-US" sz="1800" b="0" i="0" u="none" strike="noStrike" cap="none" normalizeH="0" baseline="0" dirty="0">
                <a:ln>
                  <a:noFill/>
                </a:ln>
                <a:solidFill>
                  <a:schemeClr val="tx1"/>
                </a:solidFill>
                <a:effectLst/>
                <a:latin typeface="+mn-lt"/>
              </a:rPr>
              <a:t> GPU support (NVIDIA GPU or Google </a:t>
            </a:r>
            <a:r>
              <a:rPr kumimoji="0" lang="en-US" altLang="en-US" sz="1800" b="0" i="0" u="none" strike="noStrike" cap="none" normalizeH="0" baseline="0" dirty="0" err="1">
                <a:ln>
                  <a:noFill/>
                </a:ln>
                <a:solidFill>
                  <a:schemeClr val="tx1"/>
                </a:solidFill>
                <a:effectLst/>
                <a:latin typeface="+mn-lt"/>
              </a:rPr>
              <a:t>Colab</a:t>
            </a:r>
            <a:r>
              <a:rPr kumimoji="0" lang="en-US" altLang="en-US" sz="1800" b="0" i="0" u="none" strike="noStrike" cap="none" normalizeH="0" baseline="0" dirty="0">
                <a:ln>
                  <a:noFill/>
                </a:ln>
                <a:solidFill>
                  <a:schemeClr val="tx1"/>
                </a:solidFill>
                <a:effectLst/>
                <a:latin typeface="+mn-lt"/>
              </a:rPr>
              <a:t> GPU) for faster model training </a:t>
            </a:r>
          </a:p>
        </p:txBody>
      </p:sp>
    </p:spTree>
    <p:extLst>
      <p:ext uri="{BB962C8B-B14F-4D97-AF65-F5344CB8AC3E}">
        <p14:creationId xmlns:p14="http://schemas.microsoft.com/office/powerpoint/2010/main" val="4083488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8F8A-8DAC-7208-6017-0FEC3F2E1EBF}"/>
              </a:ext>
            </a:extLst>
          </p:cNvPr>
          <p:cNvSpPr>
            <a:spLocks noGrp="1"/>
          </p:cNvSpPr>
          <p:nvPr>
            <p:ph type="title"/>
          </p:nvPr>
        </p:nvSpPr>
        <p:spPr>
          <a:xfrm>
            <a:off x="2209800" y="76200"/>
            <a:ext cx="6324600" cy="609600"/>
          </a:xfrm>
        </p:spPr>
        <p:txBody>
          <a:bodyPr/>
          <a:lstStyle/>
          <a:p>
            <a:r>
              <a:rPr lang="en-IN" sz="3200" b="1" dirty="0"/>
              <a:t>Methodology</a:t>
            </a:r>
          </a:p>
        </p:txBody>
      </p:sp>
      <p:sp>
        <p:nvSpPr>
          <p:cNvPr id="3" name="Title 1">
            <a:extLst>
              <a:ext uri="{FF2B5EF4-FFF2-40B4-BE49-F238E27FC236}">
                <a16:creationId xmlns:a16="http://schemas.microsoft.com/office/drawing/2014/main" id="{DA1B9836-E501-425A-919B-2B25916C2369}"/>
              </a:ext>
            </a:extLst>
          </p:cNvPr>
          <p:cNvSpPr txBox="1">
            <a:spLocks/>
          </p:cNvSpPr>
          <p:nvPr/>
        </p:nvSpPr>
        <p:spPr bwMode="auto">
          <a:xfrm>
            <a:off x="609600" y="1905000"/>
            <a:ext cx="6324600" cy="609600"/>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endParaRPr lang="en-IN" dirty="0"/>
          </a:p>
        </p:txBody>
      </p:sp>
      <p:sp>
        <p:nvSpPr>
          <p:cNvPr id="4" name="Rectangle 1">
            <a:extLst>
              <a:ext uri="{FF2B5EF4-FFF2-40B4-BE49-F238E27FC236}">
                <a16:creationId xmlns:a16="http://schemas.microsoft.com/office/drawing/2014/main" id="{E5DF6F76-578B-D61F-10A7-4F1948D42B13}"/>
              </a:ext>
            </a:extLst>
          </p:cNvPr>
          <p:cNvSpPr>
            <a:spLocks noChangeArrowheads="1"/>
          </p:cNvSpPr>
          <p:nvPr/>
        </p:nvSpPr>
        <p:spPr bwMode="auto">
          <a:xfrm>
            <a:off x="609600" y="1790859"/>
            <a:ext cx="9296400" cy="327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Data Collection:</a:t>
            </a:r>
            <a:r>
              <a:rPr kumimoji="0" lang="en-US" altLang="en-US" sz="2000" b="0" i="0" u="none" strike="noStrike" cap="none" normalizeH="0" baseline="0" dirty="0">
                <a:ln>
                  <a:noFill/>
                </a:ln>
                <a:solidFill>
                  <a:schemeClr val="tx1"/>
                </a:solidFill>
                <a:effectLst/>
                <a:latin typeface="+mn-lt"/>
              </a:rPr>
              <a:t> HAM10000 + ISIC</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Preprocessing:</a:t>
            </a:r>
            <a:r>
              <a:rPr kumimoji="0" lang="en-US" altLang="en-US" sz="2000" b="0" i="0" u="none" strike="noStrike" cap="none" normalizeH="0" baseline="0" dirty="0">
                <a:ln>
                  <a:noFill/>
                </a:ln>
                <a:solidFill>
                  <a:schemeClr val="tx1"/>
                </a:solidFill>
                <a:effectLst/>
                <a:latin typeface="+mn-lt"/>
              </a:rPr>
              <a:t> Resize, normalize, noise removal</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Data Augmentation:</a:t>
            </a:r>
            <a:r>
              <a:rPr kumimoji="0" lang="en-US" altLang="en-US" sz="2000" b="0" i="0" u="none" strike="noStrike" cap="none" normalizeH="0" baseline="0" dirty="0">
                <a:ln>
                  <a:noFill/>
                </a:ln>
                <a:solidFill>
                  <a:schemeClr val="tx1"/>
                </a:solidFill>
                <a:effectLst/>
                <a:latin typeface="+mn-lt"/>
              </a:rPr>
              <a:t> Flip, rotate, zoom, brightness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Model Selection:</a:t>
            </a:r>
            <a:r>
              <a:rPr kumimoji="0" lang="en-US" altLang="en-US" sz="2000" b="0" i="0" u="none" strike="noStrike" cap="none" normalizeH="0" baseline="0" dirty="0">
                <a:ln>
                  <a:noFill/>
                </a:ln>
                <a:solidFill>
                  <a:schemeClr val="tx1"/>
                </a:solidFill>
                <a:effectLst/>
                <a:latin typeface="+mn-lt"/>
              </a:rPr>
              <a:t> CNN baseline + Vision Transformer</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Model Training:</a:t>
            </a:r>
            <a:r>
              <a:rPr kumimoji="0" lang="en-US" altLang="en-US" sz="2000" b="0" i="0" u="none" strike="noStrike" cap="none" normalizeH="0" baseline="0" dirty="0">
                <a:ln>
                  <a:noFill/>
                </a:ln>
                <a:solidFill>
                  <a:schemeClr val="tx1"/>
                </a:solidFill>
                <a:effectLst/>
                <a:latin typeface="+mn-lt"/>
              </a:rPr>
              <a:t> </a:t>
            </a:r>
            <a:r>
              <a:rPr kumimoji="0" lang="en-US" altLang="en-US" sz="2000" b="0" i="0" u="none" strike="noStrike" cap="none" normalizeH="0" baseline="0" dirty="0" err="1">
                <a:ln>
                  <a:noFill/>
                </a:ln>
                <a:solidFill>
                  <a:schemeClr val="tx1"/>
                </a:solidFill>
                <a:effectLst/>
                <a:latin typeface="+mn-lt"/>
              </a:rPr>
              <a:t>AdamW</a:t>
            </a:r>
            <a:r>
              <a:rPr kumimoji="0" lang="en-US" altLang="en-US" sz="2000" b="0" i="0" u="none" strike="noStrike" cap="none" normalizeH="0" baseline="0" dirty="0">
                <a:ln>
                  <a:noFill/>
                </a:ln>
                <a:solidFill>
                  <a:schemeClr val="tx1"/>
                </a:solidFill>
                <a:effectLst/>
                <a:latin typeface="+mn-lt"/>
              </a:rPr>
              <a:t>, Cross-Entropy/Focal Loss, class balancing</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Model Evaluation:</a:t>
            </a:r>
            <a:r>
              <a:rPr kumimoji="0" lang="en-US" altLang="en-US" sz="2000" b="0" i="0" u="none" strike="noStrike" cap="none" normalizeH="0" baseline="0" dirty="0">
                <a:ln>
                  <a:noFill/>
                </a:ln>
                <a:solidFill>
                  <a:schemeClr val="tx1"/>
                </a:solidFill>
                <a:effectLst/>
                <a:latin typeface="+mn-lt"/>
              </a:rPr>
              <a:t> Accuracy, Precision, Recall, F1-Score, Confusion Matrix</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mn-lt"/>
              </a:rPr>
              <a:t>Deployment:</a:t>
            </a:r>
            <a:r>
              <a:rPr kumimoji="0" lang="en-US" altLang="en-US" sz="2000" b="0" i="0" u="none" strike="noStrike" cap="none" normalizeH="0" baseline="0" dirty="0">
                <a:ln>
                  <a:noFill/>
                </a:ln>
                <a:solidFill>
                  <a:schemeClr val="tx1"/>
                </a:solidFill>
                <a:effectLst/>
                <a:latin typeface="+mn-lt"/>
              </a:rPr>
              <a:t> </a:t>
            </a:r>
            <a:r>
              <a:rPr kumimoji="0" lang="en-US" altLang="en-US" sz="2000" b="0" i="0" u="none" strike="noStrike" cap="none" normalizeH="0" baseline="0" dirty="0" err="1">
                <a:ln>
                  <a:noFill/>
                </a:ln>
                <a:solidFill>
                  <a:schemeClr val="tx1"/>
                </a:solidFill>
                <a:effectLst/>
                <a:latin typeface="+mn-lt"/>
              </a:rPr>
              <a:t>Streamlit</a:t>
            </a:r>
            <a:r>
              <a:rPr kumimoji="0" lang="en-US" altLang="en-US" sz="2000" b="0" i="0" u="none" strike="noStrike" cap="none" normalizeH="0" baseline="0" dirty="0">
                <a:ln>
                  <a:noFill/>
                </a:ln>
                <a:solidFill>
                  <a:schemeClr val="tx1"/>
                </a:solidFill>
                <a:effectLst/>
                <a:latin typeface="+mn-lt"/>
              </a:rPr>
              <a:t> web app for telemedicine</a:t>
            </a:r>
          </a:p>
        </p:txBody>
      </p:sp>
    </p:spTree>
    <p:extLst>
      <p:ext uri="{BB962C8B-B14F-4D97-AF65-F5344CB8AC3E}">
        <p14:creationId xmlns:p14="http://schemas.microsoft.com/office/powerpoint/2010/main" val="2634070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A4E2DF5B-532B-DECE-A076-07F13DB8F2BB}"/>
              </a:ext>
            </a:extLst>
          </p:cNvPr>
          <p:cNvSpPr>
            <a:spLocks noChangeArrowheads="1"/>
          </p:cNvSpPr>
          <p:nvPr/>
        </p:nvSpPr>
        <p:spPr bwMode="auto">
          <a:xfrm>
            <a:off x="704850" y="988368"/>
            <a:ext cx="7734300" cy="4568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b="1" dirty="0">
                <a:latin typeface="+mn-lt"/>
              </a:rPr>
              <a:t>Data Preprocessing</a:t>
            </a:r>
          </a:p>
          <a:p>
            <a:pPr algn="just"/>
            <a:endParaRPr lang="en-IN" sz="2400" b="1" dirty="0">
              <a:latin typeface="+mn-lt"/>
            </a:endParaRPr>
          </a:p>
          <a:p>
            <a:pPr marL="285750" indent="-285750" algn="just">
              <a:buFont typeface="Arial" panose="020B0604020202020204" pitchFamily="34" charset="0"/>
              <a:buChar char="•"/>
            </a:pPr>
            <a:r>
              <a:rPr lang="en-IN" b="1" dirty="0">
                <a:latin typeface="+mn-lt"/>
              </a:rPr>
              <a:t>Dataset:</a:t>
            </a:r>
            <a:r>
              <a:rPr lang="en-IN" dirty="0">
                <a:latin typeface="+mn-lt"/>
              </a:rPr>
              <a:t> Leveraged </a:t>
            </a:r>
            <a:r>
              <a:rPr lang="en-IN" b="1" dirty="0">
                <a:latin typeface="+mn-lt"/>
              </a:rPr>
              <a:t>HAM10000</a:t>
            </a:r>
            <a:r>
              <a:rPr lang="en-IN" dirty="0">
                <a:latin typeface="+mn-lt"/>
              </a:rPr>
              <a:t> (10,015 </a:t>
            </a:r>
            <a:r>
              <a:rPr lang="en-IN" dirty="0" err="1">
                <a:latin typeface="+mn-lt"/>
              </a:rPr>
              <a:t>dermatoscopic</a:t>
            </a:r>
            <a:r>
              <a:rPr lang="en-IN" dirty="0">
                <a:latin typeface="+mn-lt"/>
              </a:rPr>
              <a:t> images) covering 7 disease classes. </a:t>
            </a:r>
          </a:p>
          <a:p>
            <a:pPr marL="285750" indent="-285750" algn="just">
              <a:buFont typeface="Arial" panose="020B0604020202020204" pitchFamily="34" charset="0"/>
              <a:buChar char="•"/>
            </a:pPr>
            <a:r>
              <a:rPr lang="en-IN" b="1" dirty="0">
                <a:latin typeface="+mn-lt"/>
              </a:rPr>
              <a:t>Preprocessing:</a:t>
            </a:r>
            <a:r>
              <a:rPr lang="en-IN" dirty="0">
                <a:latin typeface="+mn-lt"/>
              </a:rPr>
              <a:t> Standardized inputs to </a:t>
            </a:r>
            <a:r>
              <a:rPr lang="en-IN" b="1" dirty="0">
                <a:latin typeface="+mn-lt"/>
              </a:rPr>
              <a:t>224x224 pixels</a:t>
            </a:r>
            <a:r>
              <a:rPr lang="en-IN" dirty="0">
                <a:latin typeface="+mn-lt"/>
              </a:rPr>
              <a:t> with ImageNet normalization (</a:t>
            </a:r>
            <a:r>
              <a:rPr lang="el-GR" dirty="0">
                <a:latin typeface="+mn-lt"/>
              </a:rPr>
              <a:t>μ, σ). </a:t>
            </a:r>
          </a:p>
          <a:p>
            <a:pPr marL="285750" indent="-285750" algn="just">
              <a:buFont typeface="Arial" panose="020B0604020202020204" pitchFamily="34" charset="0"/>
              <a:buChar char="•"/>
            </a:pPr>
            <a:r>
              <a:rPr lang="en-IN" b="1" dirty="0">
                <a:latin typeface="+mn-lt"/>
              </a:rPr>
              <a:t>Augmentation:</a:t>
            </a:r>
            <a:r>
              <a:rPr lang="en-IN" dirty="0">
                <a:latin typeface="+mn-lt"/>
              </a:rPr>
              <a:t> Applied rotations, flips, and </a:t>
            </a:r>
            <a:r>
              <a:rPr lang="en-IN" dirty="0" err="1">
                <a:latin typeface="+mn-lt"/>
              </a:rPr>
              <a:t>color</a:t>
            </a:r>
            <a:r>
              <a:rPr lang="en-IN" dirty="0">
                <a:latin typeface="+mn-lt"/>
              </a:rPr>
              <a:t> jitter to prevent overfitting and improve robustness. </a:t>
            </a:r>
          </a:p>
          <a:p>
            <a:pPr marL="285750" indent="-285750" algn="just">
              <a:buFont typeface="Arial" panose="020B0604020202020204" pitchFamily="34" charset="0"/>
              <a:buChar char="•"/>
            </a:pPr>
            <a:r>
              <a:rPr lang="en-IN" b="1" dirty="0">
                <a:latin typeface="+mn-lt"/>
              </a:rPr>
              <a:t>Class Balancing:</a:t>
            </a:r>
            <a:r>
              <a:rPr lang="en-IN" dirty="0">
                <a:latin typeface="+mn-lt"/>
              </a:rPr>
              <a:t> Implemented </a:t>
            </a:r>
            <a:r>
              <a:rPr lang="en-IN" b="1" dirty="0" err="1">
                <a:latin typeface="+mn-lt"/>
              </a:rPr>
              <a:t>WeightedRandomSampler</a:t>
            </a:r>
            <a:r>
              <a:rPr lang="en-IN" dirty="0">
                <a:latin typeface="+mn-lt"/>
              </a:rPr>
              <a:t> to handle heavy data imbalance. </a:t>
            </a:r>
          </a:p>
          <a:p>
            <a:pPr marL="285750" indent="-285750" algn="just">
              <a:buFont typeface="Arial" panose="020B0604020202020204" pitchFamily="34" charset="0"/>
              <a:buChar char="•"/>
            </a:pPr>
            <a:r>
              <a:rPr lang="en-IN" b="1" dirty="0">
                <a:latin typeface="+mn-lt"/>
              </a:rPr>
              <a:t>Inverse Weighting:</a:t>
            </a:r>
            <a:r>
              <a:rPr lang="en-IN" dirty="0">
                <a:latin typeface="+mn-lt"/>
              </a:rPr>
              <a:t> Assigned image weights based on </a:t>
            </a:r>
            <a:r>
              <a:rPr lang="en-IN" dirty="0" err="1">
                <a:latin typeface="+mn-lt"/>
              </a:rPr>
              <a:t>Weight_class</a:t>
            </a:r>
            <a:r>
              <a:rPr lang="en-IN" dirty="0">
                <a:latin typeface="+mn-lt"/>
              </a:rPr>
              <a:t> = 1 / </a:t>
            </a:r>
            <a:r>
              <a:rPr lang="en-IN" dirty="0" err="1">
                <a:latin typeface="+mn-lt"/>
              </a:rPr>
              <a:t>Count_class</a:t>
            </a:r>
            <a:r>
              <a:rPr lang="en-IN" dirty="0">
                <a:latin typeface="+mn-lt"/>
              </a:rPr>
              <a:t>.</a:t>
            </a:r>
          </a:p>
          <a:p>
            <a:pPr marL="285750" indent="-285750" algn="just">
              <a:buFont typeface="Arial" panose="020B0604020202020204" pitchFamily="34" charset="0"/>
              <a:buChar char="•"/>
            </a:pPr>
            <a:r>
              <a:rPr lang="en-IN" b="1" dirty="0">
                <a:latin typeface="+mn-lt"/>
              </a:rPr>
              <a:t>Effect:</a:t>
            </a:r>
            <a:r>
              <a:rPr lang="en-IN" dirty="0">
                <a:latin typeface="+mn-lt"/>
              </a:rPr>
              <a:t> Ensures rare conditions like Dermatofibroma receive equal training visibility as common moles.</a:t>
            </a:r>
          </a:p>
          <a:p>
            <a:pPr marR="0" lvl="0" algn="l"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182320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AF678-2C83-28FE-D50C-BBED32760011}"/>
              </a:ext>
            </a:extLst>
          </p:cNvPr>
          <p:cNvSpPr txBox="1"/>
          <p:nvPr/>
        </p:nvSpPr>
        <p:spPr>
          <a:xfrm>
            <a:off x="533400" y="1371600"/>
            <a:ext cx="7810500" cy="3927357"/>
          </a:xfrm>
          <a:prstGeom prst="rect">
            <a:avLst/>
          </a:prstGeom>
          <a:noFill/>
        </p:spPr>
        <p:txBody>
          <a:bodyPr wrap="square">
            <a:spAutoFit/>
          </a:bodyPr>
          <a:lstStyle/>
          <a:p>
            <a:pPr algn="just">
              <a:lnSpc>
                <a:spcPct val="150000"/>
              </a:lnSpc>
            </a:pPr>
            <a:r>
              <a:rPr lang="en-US" sz="2400" b="1" dirty="0">
                <a:latin typeface="+mn-lt"/>
              </a:rPr>
              <a:t>Hybrid Model Architecture</a:t>
            </a:r>
          </a:p>
          <a:p>
            <a:pPr marL="285750" indent="-285750" algn="just">
              <a:lnSpc>
                <a:spcPct val="150000"/>
              </a:lnSpc>
              <a:buFont typeface="Arial" panose="020B0604020202020204" pitchFamily="34" charset="0"/>
              <a:buChar char="•"/>
            </a:pPr>
            <a:r>
              <a:rPr lang="en-US" b="1" dirty="0">
                <a:latin typeface="+mn-lt"/>
              </a:rPr>
              <a:t>CNN Backbone (Local):</a:t>
            </a:r>
            <a:r>
              <a:rPr lang="en-US" dirty="0">
                <a:latin typeface="+mn-lt"/>
              </a:rPr>
              <a:t> Utilized </a:t>
            </a:r>
            <a:r>
              <a:rPr lang="en-US" b="1" dirty="0">
                <a:latin typeface="+mn-lt"/>
              </a:rPr>
              <a:t>EfficientNet-B0</a:t>
            </a:r>
            <a:r>
              <a:rPr lang="en-US" dirty="0">
                <a:latin typeface="+mn-lt"/>
              </a:rPr>
              <a:t> to capture intricate textures, colors, and local spatial patterns. </a:t>
            </a:r>
          </a:p>
          <a:p>
            <a:pPr marL="285750" indent="-285750" algn="just">
              <a:lnSpc>
                <a:spcPct val="150000"/>
              </a:lnSpc>
              <a:buFont typeface="Arial" panose="020B0604020202020204" pitchFamily="34" charset="0"/>
              <a:buChar char="•"/>
            </a:pPr>
            <a:r>
              <a:rPr lang="en-US" b="1" dirty="0">
                <a:latin typeface="+mn-lt"/>
              </a:rPr>
              <a:t>Bridge Layer:</a:t>
            </a:r>
            <a:r>
              <a:rPr lang="en-US" dirty="0">
                <a:latin typeface="+mn-lt"/>
              </a:rPr>
              <a:t> Employed a </a:t>
            </a:r>
            <a:r>
              <a:rPr lang="en-US" b="1" dirty="0">
                <a:latin typeface="+mn-lt"/>
              </a:rPr>
              <a:t>1 × 1 Convolution</a:t>
            </a:r>
            <a:r>
              <a:rPr lang="en-US" dirty="0">
                <a:latin typeface="+mn-lt"/>
              </a:rPr>
              <a:t> to compress 320 channels into 192 for Transformer compatibility. </a:t>
            </a:r>
          </a:p>
          <a:p>
            <a:pPr marL="285750" indent="-285750" algn="just">
              <a:lnSpc>
                <a:spcPct val="150000"/>
              </a:lnSpc>
              <a:buFont typeface="Arial" panose="020B0604020202020204" pitchFamily="34" charset="0"/>
              <a:buChar char="•"/>
            </a:pPr>
            <a:r>
              <a:rPr lang="en-US" b="1" dirty="0">
                <a:latin typeface="+mn-lt"/>
              </a:rPr>
              <a:t>Transformer Blocks (Global):</a:t>
            </a:r>
            <a:r>
              <a:rPr lang="en-US" dirty="0">
                <a:latin typeface="+mn-lt"/>
              </a:rPr>
              <a:t> Integrated </a:t>
            </a:r>
            <a:r>
              <a:rPr lang="en-US" b="1" dirty="0" err="1">
                <a:latin typeface="+mn-lt"/>
              </a:rPr>
              <a:t>ViT</a:t>
            </a:r>
            <a:r>
              <a:rPr lang="en-US" b="1" dirty="0">
                <a:latin typeface="+mn-lt"/>
              </a:rPr>
              <a:t>-Tiny</a:t>
            </a:r>
            <a:r>
              <a:rPr lang="en-US" dirty="0">
                <a:latin typeface="+mn-lt"/>
              </a:rPr>
              <a:t> self-attention mechanisms to analyze global lesion symmetry and long-range structural relationships. </a:t>
            </a:r>
          </a:p>
          <a:p>
            <a:pPr marL="285750" indent="-285750" algn="just">
              <a:lnSpc>
                <a:spcPct val="150000"/>
              </a:lnSpc>
              <a:buFont typeface="Arial" panose="020B0604020202020204" pitchFamily="34" charset="0"/>
              <a:buChar char="•"/>
            </a:pPr>
            <a:r>
              <a:rPr lang="en-US" b="1" dirty="0">
                <a:latin typeface="+mn-lt"/>
              </a:rPr>
              <a:t>Feature Fusion:</a:t>
            </a:r>
            <a:r>
              <a:rPr lang="en-US" dirty="0">
                <a:latin typeface="+mn-lt"/>
              </a:rPr>
              <a:t> Combined local and global data through </a:t>
            </a:r>
            <a:r>
              <a:rPr lang="en-US" b="1" dirty="0">
                <a:latin typeface="+mn-lt"/>
              </a:rPr>
              <a:t>Global Average Pooling</a:t>
            </a:r>
            <a:r>
              <a:rPr lang="en-US" dirty="0">
                <a:latin typeface="+mn-lt"/>
              </a:rPr>
              <a:t> to create a unified feature vector.</a:t>
            </a:r>
          </a:p>
        </p:txBody>
      </p:sp>
    </p:spTree>
    <p:extLst>
      <p:ext uri="{BB962C8B-B14F-4D97-AF65-F5344CB8AC3E}">
        <p14:creationId xmlns:p14="http://schemas.microsoft.com/office/powerpoint/2010/main" val="100934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75DC9-663D-0BBF-6BFF-3F8B14AEB2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C86F3C-D940-8FD9-00B0-618E97B74D0B}"/>
              </a:ext>
            </a:extLst>
          </p:cNvPr>
          <p:cNvSpPr txBox="1"/>
          <p:nvPr/>
        </p:nvSpPr>
        <p:spPr>
          <a:xfrm>
            <a:off x="666750" y="1219200"/>
            <a:ext cx="7810500" cy="4467057"/>
          </a:xfrm>
          <a:prstGeom prst="rect">
            <a:avLst/>
          </a:prstGeom>
          <a:noFill/>
        </p:spPr>
        <p:txBody>
          <a:bodyPr wrap="square">
            <a:spAutoFit/>
          </a:bodyPr>
          <a:lstStyle/>
          <a:p>
            <a:pPr>
              <a:lnSpc>
                <a:spcPct val="150000"/>
              </a:lnSpc>
            </a:pPr>
            <a:r>
              <a:rPr lang="en-IN" sz="2400" b="1" dirty="0">
                <a:latin typeface="+mn-lt"/>
              </a:rPr>
              <a:t>Optimization &amp; Inference</a:t>
            </a:r>
          </a:p>
          <a:p>
            <a:pPr marL="342900" indent="-342900" algn="just">
              <a:lnSpc>
                <a:spcPct val="150000"/>
              </a:lnSpc>
              <a:buFont typeface="Arial" panose="020B0604020202020204" pitchFamily="34" charset="0"/>
              <a:buChar char="•"/>
            </a:pPr>
            <a:r>
              <a:rPr lang="en-IN" b="1" dirty="0">
                <a:latin typeface="+mn-lt"/>
              </a:rPr>
              <a:t>Optimizer:</a:t>
            </a:r>
            <a:r>
              <a:rPr lang="en-IN" dirty="0">
                <a:latin typeface="+mn-lt"/>
              </a:rPr>
              <a:t> Used </a:t>
            </a:r>
            <a:r>
              <a:rPr lang="en-IN" b="1" dirty="0" err="1">
                <a:latin typeface="+mn-lt"/>
              </a:rPr>
              <a:t>AdamW</a:t>
            </a:r>
            <a:r>
              <a:rPr lang="en-IN" dirty="0">
                <a:latin typeface="+mn-lt"/>
              </a:rPr>
              <a:t> (LR = 5e-5) with weight decay for stable training and superior generalization. </a:t>
            </a:r>
          </a:p>
          <a:p>
            <a:pPr marL="342900" indent="-342900" algn="just">
              <a:lnSpc>
                <a:spcPct val="150000"/>
              </a:lnSpc>
              <a:buFont typeface="Arial" panose="020B0604020202020204" pitchFamily="34" charset="0"/>
              <a:buChar char="•"/>
            </a:pPr>
            <a:r>
              <a:rPr lang="en-IN" b="1" dirty="0">
                <a:latin typeface="+mn-lt"/>
              </a:rPr>
              <a:t>Loss Function:</a:t>
            </a:r>
            <a:r>
              <a:rPr lang="en-IN" dirty="0">
                <a:latin typeface="+mn-lt"/>
              </a:rPr>
              <a:t> Optimized via </a:t>
            </a:r>
            <a:r>
              <a:rPr lang="en-IN" b="1" dirty="0">
                <a:latin typeface="+mn-lt"/>
              </a:rPr>
              <a:t>Cross-Entropy Loss</a:t>
            </a:r>
            <a:r>
              <a:rPr lang="en-IN" dirty="0">
                <a:latin typeface="+mn-lt"/>
              </a:rPr>
              <a:t> to maximize prediction probability for the correct class. </a:t>
            </a:r>
          </a:p>
          <a:p>
            <a:pPr marL="342900" indent="-342900" algn="just">
              <a:lnSpc>
                <a:spcPct val="150000"/>
              </a:lnSpc>
              <a:buFont typeface="Arial" panose="020B0604020202020204" pitchFamily="34" charset="0"/>
              <a:buChar char="•"/>
            </a:pPr>
            <a:r>
              <a:rPr lang="en-IN" b="1" dirty="0">
                <a:latin typeface="+mn-lt"/>
              </a:rPr>
              <a:t>Validation Strategy:</a:t>
            </a:r>
            <a:r>
              <a:rPr lang="en-IN" dirty="0">
                <a:latin typeface="+mn-lt"/>
              </a:rPr>
              <a:t> Implemented "Best-Model" saving based on peak validation accuracy across 15 epochs. </a:t>
            </a:r>
          </a:p>
          <a:p>
            <a:pPr marL="342900" indent="-342900" algn="just">
              <a:lnSpc>
                <a:spcPct val="150000"/>
              </a:lnSpc>
              <a:buFont typeface="Arial" panose="020B0604020202020204" pitchFamily="34" charset="0"/>
              <a:buChar char="•"/>
            </a:pPr>
            <a:r>
              <a:rPr lang="en-IN" b="1" dirty="0">
                <a:latin typeface="+mn-lt"/>
              </a:rPr>
              <a:t>Clinical Mapping:</a:t>
            </a:r>
            <a:r>
              <a:rPr lang="en-IN" dirty="0">
                <a:latin typeface="+mn-lt"/>
              </a:rPr>
              <a:t> Converted raw model scores into human-readable </a:t>
            </a:r>
            <a:r>
              <a:rPr lang="en-IN" b="1" dirty="0">
                <a:latin typeface="+mn-lt"/>
              </a:rPr>
              <a:t>Confidence Percentages</a:t>
            </a:r>
            <a:r>
              <a:rPr lang="en-IN" dirty="0">
                <a:latin typeface="+mn-lt"/>
              </a:rPr>
              <a:t> using the </a:t>
            </a:r>
            <a:r>
              <a:rPr lang="en-IN" b="1" dirty="0" err="1">
                <a:latin typeface="+mn-lt"/>
              </a:rPr>
              <a:t>Softmax</a:t>
            </a:r>
            <a:r>
              <a:rPr lang="en-IN" dirty="0">
                <a:latin typeface="+mn-lt"/>
              </a:rPr>
              <a:t> function.</a:t>
            </a:r>
          </a:p>
          <a:p>
            <a:pPr algn="just">
              <a:lnSpc>
                <a:spcPct val="150000"/>
              </a:lnSpc>
            </a:pPr>
            <a:endParaRPr lang="en-US" sz="2400" b="1" dirty="0">
              <a:latin typeface="+mn-lt"/>
            </a:endParaRPr>
          </a:p>
        </p:txBody>
      </p:sp>
    </p:spTree>
    <p:extLst>
      <p:ext uri="{BB962C8B-B14F-4D97-AF65-F5344CB8AC3E}">
        <p14:creationId xmlns:p14="http://schemas.microsoft.com/office/powerpoint/2010/main" val="3937129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9BE9-8425-B163-A6AB-A62AFB720A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CFC8BC-F45B-428E-5162-08E35683454C}"/>
              </a:ext>
            </a:extLst>
          </p:cNvPr>
          <p:cNvSpPr txBox="1"/>
          <p:nvPr/>
        </p:nvSpPr>
        <p:spPr>
          <a:xfrm>
            <a:off x="666750" y="1219200"/>
            <a:ext cx="7810500" cy="1143070"/>
          </a:xfrm>
          <a:prstGeom prst="rect">
            <a:avLst/>
          </a:prstGeom>
          <a:noFill/>
        </p:spPr>
        <p:txBody>
          <a:bodyPr wrap="square">
            <a:spAutoFit/>
          </a:bodyPr>
          <a:lstStyle/>
          <a:p>
            <a:pPr algn="just">
              <a:lnSpc>
                <a:spcPct val="150000"/>
              </a:lnSpc>
            </a:pPr>
            <a:r>
              <a:rPr lang="en-US" sz="2400" b="1" dirty="0">
                <a:latin typeface="+mn-lt"/>
              </a:rPr>
              <a:t>Evaluation Metrics</a:t>
            </a:r>
          </a:p>
          <a:p>
            <a:pPr algn="just">
              <a:lnSpc>
                <a:spcPct val="150000"/>
              </a:lnSpc>
            </a:pPr>
            <a:endParaRPr lang="en-US" sz="2400" b="1" dirty="0">
              <a:latin typeface="+mn-lt"/>
            </a:endParaRPr>
          </a:p>
        </p:txBody>
      </p:sp>
      <p:pic>
        <p:nvPicPr>
          <p:cNvPr id="2" name="Picture 1">
            <a:extLst>
              <a:ext uri="{FF2B5EF4-FFF2-40B4-BE49-F238E27FC236}">
                <a16:creationId xmlns:a16="http://schemas.microsoft.com/office/drawing/2014/main" id="{C6F11F43-33EC-A822-65B9-DB5821AFF06B}"/>
              </a:ext>
            </a:extLst>
          </p:cNvPr>
          <p:cNvPicPr>
            <a:picLocks noChangeAspect="1"/>
          </p:cNvPicPr>
          <p:nvPr/>
        </p:nvPicPr>
        <p:blipFill>
          <a:blip r:embed="rId2">
            <a:extLst>
              <a:ext uri="{28A0092B-C50C-407E-A947-70E740481C1C}">
                <a14:useLocalDpi xmlns:a14="http://schemas.microsoft.com/office/drawing/2010/main" val="0"/>
              </a:ext>
            </a:extLst>
          </a:blip>
          <a:srcRect r="16380"/>
          <a:stretch>
            <a:fillRect/>
          </a:stretch>
        </p:blipFill>
        <p:spPr>
          <a:xfrm>
            <a:off x="990600" y="1822558"/>
            <a:ext cx="7486650" cy="3923334"/>
          </a:xfrm>
          <a:prstGeom prst="rect">
            <a:avLst/>
          </a:prstGeom>
        </p:spPr>
      </p:pic>
    </p:spTree>
    <p:extLst>
      <p:ext uri="{BB962C8B-B14F-4D97-AF65-F5344CB8AC3E}">
        <p14:creationId xmlns:p14="http://schemas.microsoft.com/office/powerpoint/2010/main" val="851009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9CFF-11E8-637C-F657-0986C8BAEA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7CED46D-59A9-11C4-929F-7BCC29EC6B41}"/>
              </a:ext>
            </a:extLst>
          </p:cNvPr>
          <p:cNvPicPr>
            <a:picLocks noChangeAspect="1"/>
          </p:cNvPicPr>
          <p:nvPr/>
        </p:nvPicPr>
        <p:blipFill>
          <a:blip r:embed="rId2">
            <a:extLst>
              <a:ext uri="{28A0092B-C50C-407E-A947-70E740481C1C}">
                <a14:useLocalDpi xmlns:a14="http://schemas.microsoft.com/office/drawing/2010/main" val="0"/>
              </a:ext>
            </a:extLst>
          </a:blip>
          <a:srcRect r="11644"/>
          <a:stretch>
            <a:fillRect/>
          </a:stretch>
        </p:blipFill>
        <p:spPr>
          <a:xfrm>
            <a:off x="1066800" y="1447800"/>
            <a:ext cx="7372350" cy="4191000"/>
          </a:xfrm>
          <a:prstGeom prst="rect">
            <a:avLst/>
          </a:prstGeom>
        </p:spPr>
      </p:pic>
    </p:spTree>
    <p:extLst>
      <p:ext uri="{BB962C8B-B14F-4D97-AF65-F5344CB8AC3E}">
        <p14:creationId xmlns:p14="http://schemas.microsoft.com/office/powerpoint/2010/main" val="604565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descr="Generated image 1">
            <a:extLst>
              <a:ext uri="{FF2B5EF4-FFF2-40B4-BE49-F238E27FC236}">
                <a16:creationId xmlns:a16="http://schemas.microsoft.com/office/drawing/2014/main" id="{4646B867-C0A4-34D4-FED0-5AFEFE2EA1B8}"/>
              </a:ext>
            </a:extLst>
          </p:cNvPr>
          <p:cNvSpPr>
            <a:spLocks noChangeAspect="1" noChangeArrowheads="1"/>
          </p:cNvSpPr>
          <p:nvPr/>
        </p:nvSpPr>
        <p:spPr bwMode="auto">
          <a:xfrm>
            <a:off x="4419600" y="1371600"/>
            <a:ext cx="2209800" cy="2209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Generated image 1">
            <a:extLst>
              <a:ext uri="{FF2B5EF4-FFF2-40B4-BE49-F238E27FC236}">
                <a16:creationId xmlns:a16="http://schemas.microsoft.com/office/drawing/2014/main" id="{FCB7A318-4BF1-7E2E-756E-F644ADD43DAA}"/>
              </a:ext>
            </a:extLst>
          </p:cNvPr>
          <p:cNvSpPr>
            <a:spLocks noChangeAspect="1" noChangeArrowheads="1"/>
          </p:cNvSpPr>
          <p:nvPr/>
        </p:nvSpPr>
        <p:spPr bwMode="auto">
          <a:xfrm>
            <a:off x="4572000" y="1524000"/>
            <a:ext cx="2209800" cy="2209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Content Placeholder 7">
            <a:extLst>
              <a:ext uri="{FF2B5EF4-FFF2-40B4-BE49-F238E27FC236}">
                <a16:creationId xmlns:a16="http://schemas.microsoft.com/office/drawing/2014/main" id="{5E3A6ECD-F1C7-7566-F42B-0D032D843C8E}"/>
              </a:ext>
            </a:extLst>
          </p:cNvPr>
          <p:cNvPicPr>
            <a:picLocks noGrp="1" noChangeAspect="1"/>
          </p:cNvPicPr>
          <p:nvPr>
            <p:ph idx="1"/>
          </p:nvPr>
        </p:nvPicPr>
        <p:blipFill>
          <a:blip r:embed="rId2"/>
          <a:stretch>
            <a:fillRect/>
          </a:stretch>
        </p:blipFill>
        <p:spPr bwMode="auto">
          <a:xfrm>
            <a:off x="914400" y="1066800"/>
            <a:ext cx="7745934" cy="4724400"/>
          </a:xfrm>
          <a:prstGeom prst="rect">
            <a:avLst/>
          </a:prstGeom>
          <a:noFill/>
          <a:ln w="9525">
            <a:noFill/>
            <a:miter lim="800000"/>
          </a:ln>
        </p:spPr>
      </p:pic>
      <p:sp>
        <p:nvSpPr>
          <p:cNvPr id="11" name="TextBox 10">
            <a:extLst>
              <a:ext uri="{FF2B5EF4-FFF2-40B4-BE49-F238E27FC236}">
                <a16:creationId xmlns:a16="http://schemas.microsoft.com/office/drawing/2014/main" id="{751CC0D1-CCBE-08F2-4E42-A9AA770AAD4D}"/>
              </a:ext>
            </a:extLst>
          </p:cNvPr>
          <p:cNvSpPr txBox="1"/>
          <p:nvPr/>
        </p:nvSpPr>
        <p:spPr>
          <a:xfrm>
            <a:off x="2400300" y="91667"/>
            <a:ext cx="6553200" cy="584775"/>
          </a:xfrm>
          <a:prstGeom prst="rect">
            <a:avLst/>
          </a:prstGeom>
          <a:noFill/>
        </p:spPr>
        <p:txBody>
          <a:bodyPr wrap="square">
            <a:spAutoFit/>
          </a:bodyPr>
          <a:lstStyle/>
          <a:p>
            <a:pPr algn="ctr"/>
            <a:r>
              <a:rPr lang="en-IN" sz="3200" b="1" dirty="0">
                <a:latin typeface="+mj-lt"/>
                <a:ea typeface="Calibri" panose="020F0502020204030204" pitchFamily="34" charset="0"/>
                <a:cs typeface="Calibri" panose="020F0502020204030204" pitchFamily="34" charset="0"/>
              </a:rPr>
              <a:t>Working of CNN &amp; VIT Architecture</a:t>
            </a:r>
          </a:p>
        </p:txBody>
      </p:sp>
    </p:spTree>
    <p:extLst>
      <p:ext uri="{BB962C8B-B14F-4D97-AF65-F5344CB8AC3E}">
        <p14:creationId xmlns:p14="http://schemas.microsoft.com/office/powerpoint/2010/main" val="1494690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6E0E5224-D6E5-5BCD-967E-51BD1532E7AC}"/>
              </a:ext>
            </a:extLst>
          </p:cNvPr>
          <p:cNvPicPr>
            <a:picLocks noGrp="1" noChangeAspect="1"/>
          </p:cNvPicPr>
          <p:nvPr>
            <p:ph idx="1"/>
          </p:nvPr>
        </p:nvPicPr>
        <p:blipFill>
          <a:blip r:embed="rId2"/>
          <a:stretch>
            <a:fillRect/>
          </a:stretch>
        </p:blipFill>
        <p:spPr bwMode="auto">
          <a:xfrm>
            <a:off x="647700" y="952499"/>
            <a:ext cx="8039100" cy="5000397"/>
          </a:xfrm>
          <a:prstGeom prst="rect">
            <a:avLst/>
          </a:prstGeom>
          <a:noFill/>
          <a:ln w="9525">
            <a:noFill/>
            <a:miter lim="800000"/>
          </a:ln>
        </p:spPr>
      </p:pic>
      <p:sp>
        <p:nvSpPr>
          <p:cNvPr id="12" name="TextBox 11">
            <a:extLst>
              <a:ext uri="{FF2B5EF4-FFF2-40B4-BE49-F238E27FC236}">
                <a16:creationId xmlns:a16="http://schemas.microsoft.com/office/drawing/2014/main" id="{729EDE35-13EE-33C1-D3DA-8F6F53890169}"/>
              </a:ext>
            </a:extLst>
          </p:cNvPr>
          <p:cNvSpPr txBox="1"/>
          <p:nvPr/>
        </p:nvSpPr>
        <p:spPr>
          <a:xfrm>
            <a:off x="1981200" y="152400"/>
            <a:ext cx="7391400" cy="584775"/>
          </a:xfrm>
          <a:prstGeom prst="rect">
            <a:avLst/>
          </a:prstGeom>
          <a:noFill/>
        </p:spPr>
        <p:txBody>
          <a:bodyPr wrap="square">
            <a:spAutoFit/>
          </a:bodyPr>
          <a:lstStyle/>
          <a:p>
            <a:pPr algn="ctr"/>
            <a:r>
              <a:rPr lang="en-IN" sz="3200" b="1" dirty="0">
                <a:latin typeface="+mj-lt"/>
                <a:ea typeface="Calibri" panose="020F0502020204030204" pitchFamily="34" charset="0"/>
                <a:cs typeface="Calibri" panose="020F0502020204030204" pitchFamily="34" charset="0"/>
              </a:rPr>
              <a:t>Project Architecture Overview</a:t>
            </a:r>
          </a:p>
        </p:txBody>
      </p:sp>
    </p:spTree>
    <p:extLst>
      <p:ext uri="{BB962C8B-B14F-4D97-AF65-F5344CB8AC3E}">
        <p14:creationId xmlns:p14="http://schemas.microsoft.com/office/powerpoint/2010/main" val="832794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A45C-A422-7D56-5D75-78C8865F0603}"/>
              </a:ext>
            </a:extLst>
          </p:cNvPr>
          <p:cNvSpPr>
            <a:spLocks noGrp="1"/>
          </p:cNvSpPr>
          <p:nvPr>
            <p:ph type="ctrTitle"/>
          </p:nvPr>
        </p:nvSpPr>
        <p:spPr>
          <a:xfrm>
            <a:off x="3962400" y="304800"/>
            <a:ext cx="3276600" cy="762000"/>
          </a:xfrm>
        </p:spPr>
        <p:txBody>
          <a:bodyPr/>
          <a:lstStyle/>
          <a:p>
            <a:r>
              <a:rPr lang="en-US" altLang="en-US" sz="3200" b="1" dirty="0"/>
              <a:t>Advantages</a:t>
            </a:r>
            <a:br>
              <a:rPr lang="en-US" altLang="en-US" b="1" dirty="0"/>
            </a:br>
            <a:endParaRPr lang="en-IN" dirty="0"/>
          </a:p>
        </p:txBody>
      </p:sp>
      <p:sp>
        <p:nvSpPr>
          <p:cNvPr id="5" name="Rectangle 2">
            <a:extLst>
              <a:ext uri="{FF2B5EF4-FFF2-40B4-BE49-F238E27FC236}">
                <a16:creationId xmlns:a16="http://schemas.microsoft.com/office/drawing/2014/main" id="{883AD363-7B50-7830-E9A6-A3DE25EA4C10}"/>
              </a:ext>
            </a:extLst>
          </p:cNvPr>
          <p:cNvSpPr>
            <a:spLocks noGrp="1" noChangeArrowheads="1"/>
          </p:cNvSpPr>
          <p:nvPr>
            <p:ph type="subTitle" idx="1"/>
          </p:nvPr>
        </p:nvSpPr>
        <p:spPr bwMode="auto">
          <a:xfrm>
            <a:off x="266700" y="969848"/>
            <a:ext cx="8572500" cy="461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High Accuracy:</a:t>
            </a:r>
            <a:r>
              <a:rPr kumimoji="0" lang="en-US" altLang="en-US" sz="1800" b="0" i="0" u="none" strike="noStrike" cap="none" normalizeH="0" baseline="0" dirty="0">
                <a:ln>
                  <a:noFill/>
                </a:ln>
                <a:solidFill>
                  <a:schemeClr val="tx1"/>
                </a:solidFill>
                <a:effectLst/>
              </a:rPr>
              <a:t> Captures both local and global features for precise skin disease diagnosis.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Early Detection:</a:t>
            </a:r>
            <a:r>
              <a:rPr kumimoji="0" lang="en-US" altLang="en-US" sz="1800" b="0" i="0" u="none" strike="noStrike" cap="none" normalizeH="0" baseline="0" dirty="0">
                <a:ln>
                  <a:noFill/>
                </a:ln>
                <a:solidFill>
                  <a:schemeClr val="tx1"/>
                </a:solidFill>
                <a:effectLst/>
              </a:rPr>
              <a:t> Identifies skin cancer and other diseases at an early stage, improving patient survival rates.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Handles Imbalanced Data:</a:t>
            </a:r>
            <a:r>
              <a:rPr kumimoji="0" lang="en-US" altLang="en-US" sz="1800" b="0" i="0" u="none" strike="noStrike" cap="none" normalizeH="0" baseline="0" dirty="0">
                <a:ln>
                  <a:noFill/>
                </a:ln>
                <a:solidFill>
                  <a:schemeClr val="tx1"/>
                </a:solidFill>
                <a:effectLst/>
              </a:rPr>
              <a:t> Effective even for rare or under-represented conditions.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Consistency:</a:t>
            </a:r>
            <a:r>
              <a:rPr kumimoji="0" lang="en-US" altLang="en-US" sz="1800" b="0" i="0" u="none" strike="noStrike" cap="none" normalizeH="0" baseline="0" dirty="0">
                <a:ln>
                  <a:noFill/>
                </a:ln>
                <a:solidFill>
                  <a:schemeClr val="tx1"/>
                </a:solidFill>
                <a:effectLst/>
              </a:rPr>
              <a:t> Produces reliable and consistent results, reducing human error and dependency on doctor experience.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Cost-Effective &amp; Time-Efficient:</a:t>
            </a:r>
            <a:r>
              <a:rPr kumimoji="0" lang="en-US" altLang="en-US" sz="1800" b="0" i="0" u="none" strike="noStrike" cap="none" normalizeH="0" baseline="0" dirty="0">
                <a:ln>
                  <a:noFill/>
                </a:ln>
                <a:solidFill>
                  <a:schemeClr val="tx1"/>
                </a:solidFill>
                <a:effectLst/>
              </a:rPr>
              <a:t> Faster and cheaper than traditional diagnostic procedures.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Remote Accessibility:</a:t>
            </a:r>
            <a:r>
              <a:rPr kumimoji="0" lang="en-US" altLang="en-US" sz="1800" b="0" i="0" u="none" strike="noStrike" cap="none" normalizeH="0" baseline="0" dirty="0">
                <a:ln>
                  <a:noFill/>
                </a:ln>
                <a:solidFill>
                  <a:schemeClr val="tx1"/>
                </a:solidFill>
                <a:effectLst/>
              </a:rPr>
              <a:t> Suitable for telemedicine and digital health platforms, including rural and underserved areas.</a:t>
            </a:r>
          </a:p>
        </p:txBody>
      </p:sp>
    </p:spTree>
    <p:extLst>
      <p:ext uri="{BB962C8B-B14F-4D97-AF65-F5344CB8AC3E}">
        <p14:creationId xmlns:p14="http://schemas.microsoft.com/office/powerpoint/2010/main" val="3269293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F386-E63A-E8E6-752E-4BA96381412E}"/>
              </a:ext>
            </a:extLst>
          </p:cNvPr>
          <p:cNvSpPr>
            <a:spLocks noGrp="1"/>
          </p:cNvSpPr>
          <p:nvPr>
            <p:ph type="ctrTitle"/>
          </p:nvPr>
        </p:nvSpPr>
        <p:spPr>
          <a:xfrm>
            <a:off x="3886200" y="225431"/>
            <a:ext cx="3505200" cy="993769"/>
          </a:xfrm>
        </p:spPr>
        <p:txBody>
          <a:bodyPr/>
          <a:lstStyle/>
          <a:p>
            <a:r>
              <a:rPr lang="en-US" sz="3200" b="1" dirty="0"/>
              <a:t>Applications</a:t>
            </a:r>
            <a:br>
              <a:rPr lang="en-US" b="1" dirty="0"/>
            </a:br>
            <a:endParaRPr lang="en-IN" dirty="0"/>
          </a:p>
        </p:txBody>
      </p:sp>
      <p:sp>
        <p:nvSpPr>
          <p:cNvPr id="5" name="Rectangle 2">
            <a:extLst>
              <a:ext uri="{FF2B5EF4-FFF2-40B4-BE49-F238E27FC236}">
                <a16:creationId xmlns:a16="http://schemas.microsoft.com/office/drawing/2014/main" id="{D6D808FD-3166-AAA1-9548-34DD107C524C}"/>
              </a:ext>
            </a:extLst>
          </p:cNvPr>
          <p:cNvSpPr>
            <a:spLocks noGrp="1" noChangeArrowheads="1"/>
          </p:cNvSpPr>
          <p:nvPr>
            <p:ph type="subTitle" idx="1"/>
          </p:nvPr>
        </p:nvSpPr>
        <p:spPr bwMode="auto">
          <a:xfrm>
            <a:off x="533400" y="911323"/>
            <a:ext cx="8382001" cy="5035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Medical Diagnosis:</a:t>
            </a:r>
            <a:r>
              <a:rPr kumimoji="0" lang="en-US" altLang="en-US" sz="1800" b="0" i="0" u="none" strike="noStrike" cap="none" normalizeH="0" baseline="0" dirty="0">
                <a:ln>
                  <a:noFill/>
                </a:ln>
                <a:solidFill>
                  <a:schemeClr val="tx1"/>
                </a:solidFill>
                <a:effectLst/>
              </a:rPr>
              <a:t> Automated classification of melanoma, nevi, basal cell carcinoma, and other skin diseases.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Telemedicine:</a:t>
            </a:r>
            <a:r>
              <a:rPr kumimoji="0" lang="en-US" altLang="en-US" sz="1800" b="0" i="0" u="none" strike="noStrike" cap="none" normalizeH="0" baseline="0" dirty="0">
                <a:ln>
                  <a:noFill/>
                </a:ln>
                <a:solidFill>
                  <a:schemeClr val="tx1"/>
                </a:solidFill>
                <a:effectLst/>
              </a:rPr>
              <a:t> Enables remote consultation and early screening, especially in rural or underserved regions.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Digital Health Platforms:</a:t>
            </a:r>
            <a:r>
              <a:rPr kumimoji="0" lang="en-US" altLang="en-US" sz="1800" b="0" i="0" u="none" strike="noStrike" cap="none" normalizeH="0" baseline="0" dirty="0">
                <a:ln>
                  <a:noFill/>
                </a:ln>
                <a:solidFill>
                  <a:schemeClr val="tx1"/>
                </a:solidFill>
                <a:effectLst/>
              </a:rPr>
              <a:t> Integration with apps or web platforms for patient monitoring.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Clinical Decision Support:</a:t>
            </a:r>
            <a:r>
              <a:rPr kumimoji="0" lang="en-US" altLang="en-US" sz="1800" b="0" i="0" u="none" strike="noStrike" cap="none" normalizeH="0" baseline="0" dirty="0">
                <a:ln>
                  <a:noFill/>
                </a:ln>
                <a:solidFill>
                  <a:schemeClr val="tx1"/>
                </a:solidFill>
                <a:effectLst/>
              </a:rPr>
              <a:t> Assists doctors in making faster and more accurate decisions.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Research &amp; Training:</a:t>
            </a:r>
            <a:r>
              <a:rPr kumimoji="0" lang="en-US" altLang="en-US" sz="1800" b="0" i="0" u="none" strike="noStrike" cap="none" normalizeH="0" baseline="0" dirty="0">
                <a:ln>
                  <a:noFill/>
                </a:ln>
                <a:solidFill>
                  <a:schemeClr val="tx1"/>
                </a:solidFill>
                <a:effectLst/>
              </a:rPr>
              <a:t> Supports dermatology research and AI-based healthcare studies, including analyzing skin lesion patterns.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rPr>
              <a:t>Public Health Programs:</a:t>
            </a:r>
            <a:r>
              <a:rPr kumimoji="0" lang="en-US" altLang="en-US" sz="1800" b="0" i="0" u="none" strike="noStrike" cap="none" normalizeH="0" baseline="0" dirty="0">
                <a:ln>
                  <a:noFill/>
                </a:ln>
                <a:solidFill>
                  <a:schemeClr val="tx1"/>
                </a:solidFill>
                <a:effectLst/>
              </a:rPr>
              <a:t> Enables large-scale screening programs to detect skin cancer early.</a:t>
            </a:r>
          </a:p>
        </p:txBody>
      </p:sp>
    </p:spTree>
    <p:extLst>
      <p:ext uri="{BB962C8B-B14F-4D97-AF65-F5344CB8AC3E}">
        <p14:creationId xmlns:p14="http://schemas.microsoft.com/office/powerpoint/2010/main" val="2571026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E228A3-EEC2-17AF-9D6B-E0E453D0C22A}"/>
              </a:ext>
            </a:extLst>
          </p:cNvPr>
          <p:cNvSpPr txBox="1"/>
          <p:nvPr/>
        </p:nvSpPr>
        <p:spPr>
          <a:xfrm>
            <a:off x="4191000" y="152400"/>
            <a:ext cx="4572000" cy="584775"/>
          </a:xfrm>
          <a:prstGeom prst="rect">
            <a:avLst/>
          </a:prstGeom>
          <a:noFill/>
        </p:spPr>
        <p:txBody>
          <a:bodyPr wrap="square">
            <a:spAutoFit/>
          </a:bodyPr>
          <a:lstStyle/>
          <a:p>
            <a:pPr marL="0" indent="0" algn="just">
              <a:buNone/>
            </a:pPr>
            <a:r>
              <a:rPr lang="en-IN" sz="3200" b="1" dirty="0">
                <a:solidFill>
                  <a:srgbClr val="002060"/>
                </a:solidFill>
                <a:latin typeface="+mj-lt"/>
                <a:cs typeface="Arial" panose="020B0604020202020204" pitchFamily="34" charset="0"/>
              </a:rPr>
              <a:t>Conclusion</a:t>
            </a:r>
          </a:p>
        </p:txBody>
      </p:sp>
      <p:sp>
        <p:nvSpPr>
          <p:cNvPr id="3" name="Rectangle 1">
            <a:extLst>
              <a:ext uri="{FF2B5EF4-FFF2-40B4-BE49-F238E27FC236}">
                <a16:creationId xmlns:a16="http://schemas.microsoft.com/office/drawing/2014/main" id="{7EE023E2-C09F-0B50-2040-D6A2646956D6}"/>
              </a:ext>
            </a:extLst>
          </p:cNvPr>
          <p:cNvSpPr>
            <a:spLocks noGrp="1" noChangeArrowheads="1"/>
          </p:cNvSpPr>
          <p:nvPr>
            <p:ph/>
          </p:nvPr>
        </p:nvSpPr>
        <p:spPr bwMode="auto">
          <a:xfrm>
            <a:off x="685800" y="1371600"/>
            <a:ext cx="7772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Proposed a </a:t>
            </a:r>
            <a:r>
              <a:rPr kumimoji="0" lang="en-US" altLang="en-US" sz="1800" b="1" i="0" u="none" strike="noStrike" cap="none" normalizeH="0" baseline="0" dirty="0">
                <a:ln>
                  <a:noFill/>
                </a:ln>
                <a:solidFill>
                  <a:schemeClr val="tx1"/>
                </a:solidFill>
                <a:effectLst/>
              </a:rPr>
              <a:t>hybrid CNN (EfficientNet-B0) + Vision Transformer (</a:t>
            </a:r>
            <a:r>
              <a:rPr kumimoji="0" lang="en-US" altLang="en-US" sz="1800" b="1" i="0" u="none" strike="noStrike" cap="none" normalizeH="0" baseline="0" dirty="0" err="1">
                <a:ln>
                  <a:noFill/>
                </a:ln>
                <a:solidFill>
                  <a:schemeClr val="tx1"/>
                </a:solidFill>
                <a:effectLst/>
              </a:rPr>
              <a:t>ViT</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rPr>
              <a:t> model for skin cancer classification. </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Successfully captured both </a:t>
            </a:r>
            <a:r>
              <a:rPr kumimoji="0" lang="en-US" altLang="en-US" sz="1800" b="1" i="0" u="none" strike="noStrike" cap="none" normalizeH="0" baseline="0" dirty="0">
                <a:ln>
                  <a:noFill/>
                </a:ln>
                <a:solidFill>
                  <a:schemeClr val="tx1"/>
                </a:solidFill>
                <a:effectLst/>
              </a:rPr>
              <a:t>local features (textures, edges)</a:t>
            </a:r>
            <a:r>
              <a:rPr kumimoji="0" lang="en-US" altLang="en-US" sz="1800" b="0" i="0" u="none" strike="noStrike" cap="none" normalizeH="0" baseline="0" dirty="0">
                <a:ln>
                  <a:noFill/>
                </a:ln>
                <a:solidFill>
                  <a:schemeClr val="tx1"/>
                </a:solidFill>
                <a:effectLst/>
              </a:rPr>
              <a:t> and </a:t>
            </a:r>
            <a:r>
              <a:rPr kumimoji="0" lang="en-US" altLang="en-US" sz="1800" b="1" i="0" u="none" strike="noStrike" cap="none" normalizeH="0" baseline="0" dirty="0">
                <a:ln>
                  <a:noFill/>
                </a:ln>
                <a:solidFill>
                  <a:schemeClr val="tx1"/>
                </a:solidFill>
                <a:effectLst/>
              </a:rPr>
              <a:t>global features (spatial relationships, symmetry)</a:t>
            </a:r>
            <a:r>
              <a:rPr kumimoji="0" lang="en-US" altLang="en-US" sz="1800" b="0" i="0" u="none" strike="noStrike" cap="none" normalizeH="0" baseline="0" dirty="0">
                <a:ln>
                  <a:noFill/>
                </a:ln>
                <a:solidFill>
                  <a:schemeClr val="tx1"/>
                </a:solidFill>
                <a:effectLst/>
              </a:rPr>
              <a:t>. </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Achieved </a:t>
            </a:r>
            <a:r>
              <a:rPr kumimoji="0" lang="en-US" altLang="en-US" sz="1800" b="1" i="0" u="none" strike="noStrike" cap="none" normalizeH="0" baseline="0" dirty="0">
                <a:ln>
                  <a:noFill/>
                </a:ln>
                <a:solidFill>
                  <a:schemeClr val="tx1"/>
                </a:solidFill>
                <a:effectLst/>
              </a:rPr>
              <a:t>high classification accuracy (~87%)</a:t>
            </a:r>
            <a:r>
              <a:rPr kumimoji="0" lang="en-US" altLang="en-US" sz="1800" b="0" i="0" u="none" strike="noStrike" cap="none" normalizeH="0" baseline="0" dirty="0">
                <a:ln>
                  <a:noFill/>
                </a:ln>
                <a:solidFill>
                  <a:schemeClr val="tx1"/>
                </a:solidFill>
                <a:effectLst/>
              </a:rPr>
              <a:t> on the HAM10000 dataset. </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Improved ability to </a:t>
            </a:r>
            <a:r>
              <a:rPr kumimoji="0" lang="en-US" altLang="en-US" sz="1800" b="1" i="0" u="none" strike="noStrike" cap="none" normalizeH="0" baseline="0" dirty="0">
                <a:ln>
                  <a:noFill/>
                </a:ln>
                <a:solidFill>
                  <a:schemeClr val="tx1"/>
                </a:solidFill>
                <a:effectLst/>
              </a:rPr>
              <a:t>differentiate between benign and malignant lesions</a:t>
            </a:r>
            <a:r>
              <a:rPr kumimoji="0" lang="en-US" altLang="en-US" sz="1800" b="0" i="0" u="none" strike="noStrike" cap="none" normalizeH="0" baseline="0" dirty="0">
                <a:ln>
                  <a:noFill/>
                </a:ln>
                <a:solidFill>
                  <a:schemeClr val="tx1"/>
                </a:solidFill>
                <a:effectLst/>
              </a:rPr>
              <a:t>. </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Use of attention mechanisms enhanced </a:t>
            </a:r>
            <a:r>
              <a:rPr kumimoji="0" lang="en-US" altLang="en-US" sz="1800" b="1" i="0" u="none" strike="noStrike" cap="none" normalizeH="0" baseline="0" dirty="0">
                <a:ln>
                  <a:noFill/>
                </a:ln>
                <a:solidFill>
                  <a:schemeClr val="tx1"/>
                </a:solidFill>
                <a:effectLst/>
              </a:rPr>
              <a:t>model performance and reliability</a:t>
            </a:r>
            <a:r>
              <a:rPr kumimoji="0" lang="en-US" altLang="en-US" sz="1800" b="0" i="0" u="none" strike="noStrike" cap="none" normalizeH="0" baseline="0" dirty="0">
                <a:ln>
                  <a:noFill/>
                </a:ln>
                <a:solidFill>
                  <a:schemeClr val="tx1"/>
                </a:solidFill>
                <a:effectLst/>
              </a:rPr>
              <a:t>. </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The system can serve as an effective </a:t>
            </a:r>
            <a:r>
              <a:rPr kumimoji="0" lang="en-US" altLang="en-US" sz="1800" b="1" i="0" u="none" strike="noStrike" cap="none" normalizeH="0" baseline="0" dirty="0">
                <a:ln>
                  <a:noFill/>
                </a:ln>
                <a:solidFill>
                  <a:schemeClr val="tx1"/>
                </a:solidFill>
                <a:effectLst/>
              </a:rPr>
              <a:t>computer-aided diagnostic model</a:t>
            </a:r>
            <a:r>
              <a:rPr kumimoji="0" lang="en-US" altLang="en-US" sz="1800" b="0" i="0" u="none" strike="noStrike" cap="none" normalizeH="0" baseline="0" dirty="0">
                <a:ln>
                  <a:noFill/>
                </a:ln>
                <a:solidFill>
                  <a:schemeClr val="tx1"/>
                </a:solidFill>
                <a:effectLst/>
              </a:rPr>
              <a:t> to assist dermatologists in early detection. </a:t>
            </a:r>
          </a:p>
        </p:txBody>
      </p:sp>
    </p:spTree>
    <p:extLst>
      <p:ext uri="{BB962C8B-B14F-4D97-AF65-F5344CB8AC3E}">
        <p14:creationId xmlns:p14="http://schemas.microsoft.com/office/powerpoint/2010/main" val="1079450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t>22</a:t>
            </a:fld>
            <a:endParaRPr lang="en-US" dirty="0">
              <a:solidFill>
                <a:prstClr val="black">
                  <a:tint val="75000"/>
                </a:prstClr>
              </a:solidFill>
            </a:endParaRPr>
          </a:p>
        </p:txBody>
      </p:sp>
      <p:sp>
        <p:nvSpPr>
          <p:cNvPr id="8" name="Rectangle 1"/>
          <p:cNvSpPr>
            <a:spLocks noChangeArrowheads="1"/>
          </p:cNvSpPr>
          <p:nvPr/>
        </p:nvSpPr>
        <p:spPr bwMode="auto">
          <a:xfrm>
            <a:off x="914400" y="2590057"/>
            <a:ext cx="69342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latin typeface="Algerian" panose="04020705040A02060702"/>
                <a:cs typeface="Arial" panose="020B0604020202020204"/>
              </a:rPr>
              <a:t>THANK</a:t>
            </a:r>
            <a:r>
              <a:rPr kumimoji="0" lang="en-US" sz="3200" b="1" i="0" u="none" strike="noStrike" cap="none" normalizeH="0" baseline="0" dirty="0">
                <a:ln>
                  <a:noFill/>
                </a:ln>
                <a:effectLst/>
                <a:latin typeface="Arial Black" panose="020B0A04020102020204"/>
                <a:ea typeface="Times New Roman" panose="02020603050405020304" charset="0"/>
                <a:cs typeface="Arial" panose="020B0604020202020204"/>
              </a:rPr>
              <a:t> </a:t>
            </a:r>
            <a:r>
              <a:rPr lang="en-US" sz="6600" b="1" dirty="0">
                <a:latin typeface="Algerian" panose="04020705040A02060702"/>
                <a:cs typeface="Arial" panose="020B0604020202020204"/>
              </a:rPr>
              <a:t>YOU</a:t>
            </a:r>
          </a:p>
        </p:txBody>
      </p:sp>
    </p:spTree>
  </p:cSld>
  <p:clrMapOvr>
    <a:masterClrMapping/>
  </p:clrMapOvr>
  <p:transition advClick="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2649</TotalTime>
  <Words>1699</Words>
  <Application>Microsoft Office PowerPoint</Application>
  <PresentationFormat>On-screen Show (4:3)</PresentationFormat>
  <Paragraphs>143</Paragraphs>
  <Slides>22</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22</vt:i4>
      </vt:variant>
    </vt:vector>
  </HeadingPairs>
  <TitlesOfParts>
    <vt:vector size="34" baseType="lpstr">
      <vt:lpstr>Algerian</vt:lpstr>
      <vt:lpstr>Arial</vt:lpstr>
      <vt:lpstr>Arial Black</vt:lpstr>
      <vt:lpstr>Calibri</vt:lpstr>
      <vt:lpstr>dosis</vt:lpstr>
      <vt:lpstr>Times</vt:lpstr>
      <vt:lpstr>Times New Roman</vt:lpstr>
      <vt:lpstr>Trebuchet MS</vt:lpstr>
      <vt:lpstr>Wingdings</vt:lpstr>
      <vt:lpstr>Office Theme</vt:lpstr>
      <vt:lpstr>2_Custom Design</vt:lpstr>
      <vt:lpstr>Office Theme</vt:lpstr>
      <vt:lpstr>TEAM MEMBERS Golla Mounika – 22AT1A3211 M Jhansi Lakshmi – 22AT1A3228 S Arshiya Tarannum – 23AT5A3207 Vidapanakallu Harshini – 22AT1A3247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System </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vt:lpstr>
      <vt:lpstr>Applications </vt:lpstr>
      <vt:lpstr>PowerPoint Presentation</vt:lpstr>
      <vt:lpstr>PowerPoint Presentation</vt:lpstr>
    </vt:vector>
  </TitlesOfParts>
  <Company>GPREC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EEE-HOD</dc:creator>
  <cp:lastModifiedBy>Mounika Golla</cp:lastModifiedBy>
  <cp:revision>1579</cp:revision>
  <dcterms:created xsi:type="dcterms:W3CDTF">2012-09-02T21:14:00Z</dcterms:created>
  <dcterms:modified xsi:type="dcterms:W3CDTF">2026-04-14T08:30:25Z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1033-12.2.0.13215</vt:lpwstr>
  </property>
  <property fmtid="{D5CDD505-2E9C-101B-9397-08002B2CF9AE}" pid="3" name="ICV">
    <vt:lpwstr>D019A924192C485386BBDD34EA7649BE_12</vt:lpwstr>
  </property>
</Properties>
</file>